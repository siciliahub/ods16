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3">
  <p:sldMasterIdLst>
    <p:sldMasterId id="2147483675" r:id="rId4"/>
  </p:sldMasterIdLst>
  <p:notesMasterIdLst>
    <p:notesMasterId r:id="rId11"/>
  </p:notesMasterIdLst>
  <p:handoutMasterIdLst>
    <p:handoutMasterId r:id="rId12"/>
  </p:handoutMasterIdLst>
  <p:sldIdLst>
    <p:sldId id="305" r:id="rId5"/>
    <p:sldId id="340" r:id="rId6"/>
    <p:sldId id="351" r:id="rId7"/>
    <p:sldId id="353" r:id="rId8"/>
    <p:sldId id="352" r:id="rId9"/>
    <p:sldId id="346" r:id="rId10"/>
  </p:sldIdLst>
  <p:sldSz cx="9906000" cy="6858000" type="A4"/>
  <p:notesSz cx="6797675" cy="9872663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1D5D1712-E970-4862-95D6-B86716591034}">
          <p14:sldIdLst>
            <p14:sldId id="305"/>
            <p14:sldId id="340"/>
            <p14:sldId id="351"/>
            <p14:sldId id="353"/>
            <p14:sldId id="352"/>
            <p14:sldId id="346"/>
          </p14:sldIdLst>
        </p14:section>
        <p14:section name="Untitled Section" id="{26F878A0-9A37-44A9-970D-9E8D10E3051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217">
          <p15:clr>
            <a:srgbClr val="A4A3A4"/>
          </p15:clr>
        </p15:guide>
        <p15:guide id="4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CHAN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1B6"/>
    <a:srgbClr val="000000"/>
    <a:srgbClr val="C6460C"/>
    <a:srgbClr val="F26829"/>
    <a:srgbClr val="FBC069"/>
    <a:srgbClr val="FCD396"/>
    <a:srgbClr val="F9A01B"/>
    <a:srgbClr val="00AEEF"/>
    <a:srgbClr val="2C3581"/>
    <a:srgbClr val="FFB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1" autoAdjust="0"/>
    <p:restoredTop sz="90160" autoAdjust="0"/>
  </p:normalViewPr>
  <p:slideViewPr>
    <p:cSldViewPr snapToObjects="1">
      <p:cViewPr varScale="1">
        <p:scale>
          <a:sx n="91" d="100"/>
          <a:sy n="91" d="100"/>
        </p:scale>
        <p:origin x="888" y="62"/>
      </p:cViewPr>
      <p:guideLst>
        <p:guide orient="horz" pos="708"/>
        <p:guide orient="horz" pos="4065"/>
        <p:guide pos="217"/>
        <p:guide pos="602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2" d="100"/>
          <a:sy n="72" d="100"/>
        </p:scale>
        <p:origin x="-1548" y="-102"/>
      </p:cViewPr>
      <p:guideLst>
        <p:guide orient="horz" pos="310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F3885D-02A6-4DE1-BD10-632D058AFB60}" type="doc">
      <dgm:prSet loTypeId="urn:microsoft.com/office/officeart/2005/8/layout/vList3#1" loCatId="picture" qsTypeId="urn:microsoft.com/office/officeart/2005/8/quickstyle/simple1" qsCatId="simple" csTypeId="urn:microsoft.com/office/officeart/2005/8/colors/accent0_1" csCatId="mainScheme" phldr="1"/>
      <dgm:spPr/>
    </dgm:pt>
    <dgm:pt modelId="{11ECA332-A74F-4193-B88E-B33E7639ADEC}">
      <dgm:prSet phldrT="[Text]" custT="1"/>
      <dgm:spPr>
        <a:solidFill>
          <a:srgbClr val="2C3581"/>
        </a:solidFill>
        <a:ln>
          <a:solidFill>
            <a:srgbClr val="2C3581"/>
          </a:solidFill>
        </a:ln>
      </dgm:spPr>
      <dgm:t>
        <a:bodyPr/>
        <a:lstStyle/>
        <a:p>
          <a:pPr marL="358775" indent="0" algn="l"/>
          <a:r>
            <a:rPr lang="it-IT" sz="1800" b="1" dirty="0" smtClean="0">
              <a:solidFill>
                <a:schemeClr val="bg1"/>
              </a:solidFill>
            </a:rPr>
            <a:t>Dimensioni del mercato e valore aggiunto in percentuale del PIL</a:t>
          </a:r>
          <a:r>
            <a:rPr lang="en-GB" sz="1800" dirty="0" smtClean="0">
              <a:solidFill>
                <a:schemeClr val="bg1"/>
              </a:solidFill>
            </a:rPr>
            <a:t/>
          </a:r>
          <a:br>
            <a:rPr lang="en-GB" sz="1800" dirty="0" smtClean="0">
              <a:solidFill>
                <a:schemeClr val="bg1"/>
              </a:solidFill>
            </a:rPr>
          </a:br>
          <a:r>
            <a:rPr lang="it-IT" sz="1400" dirty="0" smtClean="0">
              <a:solidFill>
                <a:schemeClr val="bg1"/>
              </a:solidFill>
            </a:rPr>
            <a:t>La dimensione del mercato è definita attraverso il volume di mercato (volumi di vendita realizzati) e il potenziale di mercato.</a:t>
          </a:r>
          <a:endParaRPr lang="fr-FR" sz="18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09A6A1-9E44-4301-894E-8965AAA98C4C}" type="parTrans" cxnId="{FB48A24A-94BF-4311-8584-BCC0EAA0B81B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8BD84A48-4814-4C0B-B81A-07CE26502740}" type="sibTrans" cxnId="{FB48A24A-94BF-4311-8584-BCC0EAA0B81B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AC883D18-90CA-4974-AC9C-BFED548BB256}">
      <dgm:prSet phldrT="[Text]" custT="1"/>
      <dgm:spPr>
        <a:solidFill>
          <a:srgbClr val="F9A01B"/>
        </a:solidFill>
        <a:ln>
          <a:solidFill>
            <a:srgbClr val="F9A01B"/>
          </a:solidFill>
        </a:ln>
      </dgm:spPr>
      <dgm:t>
        <a:bodyPr/>
        <a:lstStyle/>
        <a:p>
          <a:pPr marL="358775" indent="0" algn="l"/>
          <a:r>
            <a:rPr lang="it-IT" sz="1800" b="1" noProof="0" dirty="0" smtClean="0">
              <a:solidFill>
                <a:schemeClr val="bg1"/>
              </a:solidFill>
            </a:rPr>
            <a:t>Aumento </a:t>
          </a:r>
          <a:r>
            <a:rPr lang="en-GB" sz="1800" b="1" dirty="0" err="1" smtClean="0">
              <a:solidFill>
                <a:schemeClr val="bg1"/>
              </a:solidFill>
            </a:rPr>
            <a:t>di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efficienza</a:t>
          </a:r>
          <a:r>
            <a:rPr lang="en-GB" sz="1800" b="1" dirty="0" smtClean="0">
              <a:solidFill>
                <a:schemeClr val="bg1"/>
              </a:solidFill>
            </a:rPr>
            <a:t> e </a:t>
          </a:r>
          <a:r>
            <a:rPr lang="en-GB" sz="1800" b="1" dirty="0" err="1" smtClean="0">
              <a:solidFill>
                <a:schemeClr val="bg1"/>
              </a:solidFill>
            </a:rPr>
            <a:t>produttività</a:t>
          </a:r>
          <a:r>
            <a:rPr lang="en-GB" sz="1800" dirty="0" smtClean="0">
              <a:solidFill>
                <a:schemeClr val="bg1"/>
              </a:solidFill>
            </a:rPr>
            <a:t/>
          </a:r>
          <a:br>
            <a:rPr lang="en-GB" sz="1800" dirty="0" smtClean="0">
              <a:solidFill>
                <a:schemeClr val="bg1"/>
              </a:solidFill>
            </a:rPr>
          </a:br>
          <a:r>
            <a:rPr lang="en-GB" sz="1400" dirty="0" err="1" smtClean="0">
              <a:solidFill>
                <a:schemeClr val="bg1"/>
              </a:solidFill>
            </a:rPr>
            <a:t>Valuta</a:t>
          </a:r>
          <a:r>
            <a:rPr lang="en-GB" sz="1400" dirty="0" smtClean="0">
              <a:solidFill>
                <a:schemeClr val="bg1"/>
              </a:solidFill>
            </a:rPr>
            <a:t> I </a:t>
          </a:r>
          <a:r>
            <a:rPr lang="en-GB" sz="1400" dirty="0" err="1" smtClean="0">
              <a:solidFill>
                <a:schemeClr val="bg1"/>
              </a:solidFill>
            </a:rPr>
            <a:t>benefici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indiretti</a:t>
          </a:r>
          <a:r>
            <a:rPr lang="en-GB" sz="1400" dirty="0" smtClean="0">
              <a:solidFill>
                <a:schemeClr val="bg1"/>
              </a:solidFill>
            </a:rPr>
            <a:t> per I </a:t>
          </a:r>
          <a:r>
            <a:rPr lang="en-GB" sz="1400" dirty="0" err="1" smtClean="0">
              <a:solidFill>
                <a:schemeClr val="bg1"/>
              </a:solidFill>
            </a:rPr>
            <a:t>cittadini</a:t>
          </a:r>
          <a:r>
            <a:rPr lang="en-GB" sz="1400" dirty="0" smtClean="0">
              <a:solidFill>
                <a:schemeClr val="bg1"/>
              </a:solidFill>
            </a:rPr>
            <a:t>, in termini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risparmio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tempo, </a:t>
          </a:r>
          <a:r>
            <a:rPr lang="en-GB" sz="1400" dirty="0" err="1" smtClean="0">
              <a:solidFill>
                <a:schemeClr val="bg1"/>
              </a:solidFill>
            </a:rPr>
            <a:t>vite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salvate</a:t>
          </a:r>
          <a:r>
            <a:rPr lang="en-GB" sz="1400" dirty="0" smtClean="0">
              <a:solidFill>
                <a:schemeClr val="bg1"/>
              </a:solidFill>
            </a:rPr>
            <a:t>, </a:t>
          </a:r>
          <a:r>
            <a:rPr lang="en-GB" sz="1400" dirty="0" err="1" smtClean="0">
              <a:solidFill>
                <a:schemeClr val="bg1"/>
              </a:solidFill>
            </a:rPr>
            <a:t>aumento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della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produttività</a:t>
          </a:r>
          <a:endParaRPr lang="fr-FR" sz="18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7FABCC-E0D3-43B2-B632-B961D2BF8AE3}" type="sibTrans" cxnId="{1A6CECFE-0ED7-4A92-AFDD-7CAE3A7CB294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11396B2D-A4F0-465A-B096-FA05FCFAEC94}" type="parTrans" cxnId="{1A6CECFE-0ED7-4A92-AFDD-7CAE3A7CB294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44329441-68EE-4337-8F94-10962BBBB1C6}">
      <dgm:prSet phldrT="[Text]" custT="1"/>
      <dgm:spPr>
        <a:solidFill>
          <a:srgbClr val="00AEEF"/>
        </a:solidFill>
        <a:ln>
          <a:solidFill>
            <a:srgbClr val="00AEEF"/>
          </a:solidFill>
        </a:ln>
      </dgm:spPr>
      <dgm:t>
        <a:bodyPr/>
        <a:lstStyle/>
        <a:p>
          <a:pPr marL="358775" indent="0" algn="l"/>
          <a:r>
            <a:rPr lang="en-GB" sz="1800" b="1" dirty="0" err="1" smtClean="0">
              <a:solidFill>
                <a:schemeClr val="bg1"/>
              </a:solidFill>
            </a:rPr>
            <a:t>Risparmi</a:t>
          </a:r>
          <a:r>
            <a:rPr lang="en-GB" sz="1800" b="1" dirty="0" smtClean="0">
              <a:solidFill>
                <a:schemeClr val="bg1"/>
              </a:solidFill>
            </a:rPr>
            <a:t> per </a:t>
          </a:r>
          <a:r>
            <a:rPr lang="en-GB" sz="1800" b="1" dirty="0" err="1" smtClean="0">
              <a:solidFill>
                <a:schemeClr val="bg1"/>
              </a:solidFill>
            </a:rPr>
            <a:t>il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settore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pubblico</a:t>
          </a:r>
          <a:r>
            <a:rPr lang="en-GB" sz="1800" dirty="0" smtClean="0">
              <a:solidFill>
                <a:schemeClr val="bg1"/>
              </a:solidFill>
            </a:rPr>
            <a:t/>
          </a:r>
          <a:br>
            <a:rPr lang="en-GB" sz="1800" dirty="0" smtClean="0">
              <a:solidFill>
                <a:schemeClr val="bg1"/>
              </a:solidFill>
            </a:rPr>
          </a:br>
          <a:r>
            <a:rPr lang="en-GB" sz="1400" dirty="0" smtClean="0">
              <a:solidFill>
                <a:schemeClr val="bg1"/>
              </a:solidFill>
            </a:rPr>
            <a:t>I </a:t>
          </a:r>
          <a:r>
            <a:rPr lang="en-GB" sz="1400" dirty="0" err="1" smtClean="0">
              <a:solidFill>
                <a:schemeClr val="bg1"/>
              </a:solidFill>
            </a:rPr>
            <a:t>risparmi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includono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l’efficienza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generata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attraverso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l’utilizzo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degli</a:t>
          </a:r>
          <a:r>
            <a:rPr lang="en-GB" sz="1400" dirty="0" smtClean="0">
              <a:solidFill>
                <a:schemeClr val="bg1"/>
              </a:solidFill>
            </a:rPr>
            <a:t> Open Data, </a:t>
          </a:r>
          <a:r>
            <a:rPr lang="en-GB" sz="1400" dirty="0" err="1" smtClean="0">
              <a:solidFill>
                <a:schemeClr val="bg1"/>
              </a:solidFill>
            </a:rPr>
            <a:t>costi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transazione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eliminati</a:t>
          </a:r>
          <a:r>
            <a:rPr lang="en-GB" sz="1400" dirty="0" smtClean="0">
              <a:solidFill>
                <a:schemeClr val="bg1"/>
              </a:solidFill>
            </a:rPr>
            <a:t> per la </a:t>
          </a:r>
          <a:r>
            <a:rPr lang="en-GB" sz="1400" dirty="0" err="1" smtClean="0">
              <a:solidFill>
                <a:schemeClr val="bg1"/>
              </a:solidFill>
            </a:rPr>
            <a:t>fornitura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dati</a:t>
          </a:r>
          <a:r>
            <a:rPr lang="en-GB" sz="1400" dirty="0" smtClean="0">
              <a:solidFill>
                <a:schemeClr val="bg1"/>
              </a:solidFill>
            </a:rPr>
            <a:t>, </a:t>
          </a:r>
          <a:r>
            <a:rPr lang="en-GB" sz="1400" dirty="0" err="1" smtClean="0">
              <a:solidFill>
                <a:schemeClr val="bg1"/>
              </a:solidFill>
            </a:rPr>
            <a:t>realizzando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maggior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trasparenza</a:t>
          </a:r>
          <a:r>
            <a:rPr lang="en-GB" sz="1400" dirty="0" smtClean="0">
              <a:solidFill>
                <a:schemeClr val="bg1"/>
              </a:solidFill>
            </a:rPr>
            <a:t>.</a:t>
          </a:r>
          <a:endParaRPr lang="fr-FR" sz="14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9BB57B-A49B-433A-9D97-633898378269}" type="sibTrans" cxnId="{603F28FD-A5DB-41D3-80ED-94BA646DF79B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943A7B32-4979-47F7-B338-D273F53D104A}" type="parTrans" cxnId="{603F28FD-A5DB-41D3-80ED-94BA646DF79B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43A9BDFE-CB1D-4387-9F8D-EA2EE7E9DE1A}">
      <dgm:prSet phldrT="[Text]" custT="1"/>
      <dgm:spPr>
        <a:solidFill>
          <a:srgbClr val="0C71B6"/>
        </a:solidFill>
        <a:ln>
          <a:solidFill>
            <a:srgbClr val="0C71B6"/>
          </a:solidFill>
        </a:ln>
      </dgm:spPr>
      <dgm:t>
        <a:bodyPr/>
        <a:lstStyle/>
        <a:p>
          <a:pPr marL="358775" indent="0" algn="l"/>
          <a:r>
            <a:rPr lang="en-GB" sz="1800" b="1" dirty="0" err="1" smtClean="0">
              <a:solidFill>
                <a:schemeClr val="bg1"/>
              </a:solidFill>
            </a:rPr>
            <a:t>Posti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di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lavoro</a:t>
          </a:r>
          <a:r>
            <a:rPr lang="en-GB" sz="1800" b="1" dirty="0" smtClean="0">
              <a:solidFill>
                <a:schemeClr val="bg1"/>
              </a:solidFill>
            </a:rPr>
            <a:t> </a:t>
          </a:r>
          <a:r>
            <a:rPr lang="en-GB" sz="1800" b="1" dirty="0" err="1" smtClean="0">
              <a:solidFill>
                <a:schemeClr val="bg1"/>
              </a:solidFill>
            </a:rPr>
            <a:t>creati</a:t>
          </a:r>
          <a:r>
            <a:rPr lang="en-GB" sz="1800" b="1" dirty="0" smtClean="0">
              <a:solidFill>
                <a:schemeClr val="bg1"/>
              </a:solidFill>
            </a:rPr>
            <a:t/>
          </a:r>
          <a:br>
            <a:rPr lang="en-GB" sz="1800" b="1" dirty="0" smtClean="0">
              <a:solidFill>
                <a:schemeClr val="bg1"/>
              </a:solidFill>
            </a:rPr>
          </a:br>
          <a:r>
            <a:rPr lang="en-GB" sz="1400" dirty="0" err="1" smtClean="0">
              <a:solidFill>
                <a:schemeClr val="bg1"/>
              </a:solidFill>
            </a:rPr>
            <a:t>Numero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posti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lavoro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addizionali</a:t>
          </a:r>
          <a:r>
            <a:rPr lang="en-GB" sz="1400" dirty="0" smtClean="0">
              <a:solidFill>
                <a:schemeClr val="bg1"/>
              </a:solidFill>
            </a:rPr>
            <a:t> (in </a:t>
          </a:r>
          <a:r>
            <a:rPr lang="en-GB" sz="1400" dirty="0" err="1" smtClean="0">
              <a:solidFill>
                <a:schemeClr val="bg1"/>
              </a:solidFill>
            </a:rPr>
            <a:t>persone</a:t>
          </a:r>
          <a:r>
            <a:rPr lang="en-GB" sz="1400" dirty="0" smtClean="0">
              <a:solidFill>
                <a:schemeClr val="bg1"/>
              </a:solidFill>
            </a:rPr>
            <a:t>) </a:t>
          </a:r>
          <a:r>
            <a:rPr lang="en-GB" sz="1400" dirty="0" err="1" smtClean="0">
              <a:solidFill>
                <a:schemeClr val="bg1"/>
              </a:solidFill>
            </a:rPr>
            <a:t>creati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direttamente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dagli</a:t>
          </a:r>
          <a:r>
            <a:rPr lang="en-GB" sz="1400" dirty="0" smtClean="0">
              <a:solidFill>
                <a:schemeClr val="bg1"/>
              </a:solidFill>
            </a:rPr>
            <a:t> Open Data </a:t>
          </a:r>
          <a:r>
            <a:rPr lang="en-GB" sz="1400" dirty="0" err="1" smtClean="0">
              <a:solidFill>
                <a:schemeClr val="bg1"/>
              </a:solidFill>
            </a:rPr>
            <a:t>nel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settore</a:t>
          </a:r>
          <a:r>
            <a:rPr lang="en-GB" sz="1400" dirty="0" smtClean="0">
              <a:solidFill>
                <a:schemeClr val="bg1"/>
              </a:solidFill>
            </a:rPr>
            <a:t> </a:t>
          </a:r>
          <a:r>
            <a:rPr lang="en-GB" sz="1400" dirty="0" err="1" smtClean="0">
              <a:solidFill>
                <a:schemeClr val="bg1"/>
              </a:solidFill>
            </a:rPr>
            <a:t>privato</a:t>
          </a:r>
          <a:r>
            <a:rPr lang="en-GB" sz="1400" dirty="0" smtClean="0">
              <a:solidFill>
                <a:schemeClr val="bg1"/>
              </a:solidFill>
            </a:rPr>
            <a:t>. </a:t>
          </a:r>
          <a:endParaRPr lang="fr-FR" sz="14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67CFC8-BB49-440A-8190-9AB13EEBED37}" type="sibTrans" cxnId="{7A1D9F37-582B-41C9-8BC5-E7C2F5C5D4E3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3249BA21-45A7-40DE-AB70-B6892B858CF4}" type="parTrans" cxnId="{7A1D9F37-582B-41C9-8BC5-E7C2F5C5D4E3}">
      <dgm:prSet/>
      <dgm:spPr/>
      <dgm:t>
        <a:bodyPr/>
        <a:lstStyle/>
        <a:p>
          <a:endParaRPr lang="fr-FR" sz="1800" b="1">
            <a:solidFill>
              <a:schemeClr val="bg1"/>
            </a:solidFill>
          </a:endParaRPr>
        </a:p>
      </dgm:t>
    </dgm:pt>
    <dgm:pt modelId="{0C0FD1F3-E3A9-4075-B627-92B8555BAE01}" type="pres">
      <dgm:prSet presAssocID="{48F3885D-02A6-4DE1-BD10-632D058AFB60}" presName="linearFlow" presStyleCnt="0">
        <dgm:presLayoutVars>
          <dgm:dir/>
          <dgm:resizeHandles val="exact"/>
        </dgm:presLayoutVars>
      </dgm:prSet>
      <dgm:spPr/>
    </dgm:pt>
    <dgm:pt modelId="{A54F760D-92C2-443D-BC23-EACAE5318D16}" type="pres">
      <dgm:prSet presAssocID="{11ECA332-A74F-4193-B88E-B33E7639ADEC}" presName="composite" presStyleCnt="0"/>
      <dgm:spPr/>
    </dgm:pt>
    <dgm:pt modelId="{A83C9B4E-9823-45CF-A489-A36A20718C38}" type="pres">
      <dgm:prSet presAssocID="{11ECA332-A74F-4193-B88E-B33E7639ADEC}" presName="imgShp" presStyleLbl="fgImgPlace1" presStyleIdx="0" presStyleCnt="4" custLinFactX="-29625" custLinFactNeighborX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411BDC39-CEA8-490F-8F28-1D8B637E30F1}" type="pres">
      <dgm:prSet presAssocID="{11ECA332-A74F-4193-B88E-B33E7639ADEC}" presName="txShp" presStyleLbl="node1" presStyleIdx="0" presStyleCnt="4" custScaleX="141276" custLinFactNeighborX="61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78D8CF2-C064-4293-9FDD-F30A1EBC4EA2}" type="pres">
      <dgm:prSet presAssocID="{8BD84A48-4814-4C0B-B81A-07CE26502740}" presName="spacing" presStyleCnt="0"/>
      <dgm:spPr/>
    </dgm:pt>
    <dgm:pt modelId="{F9CAF449-52EB-485F-8A14-7783ABCC2C49}" type="pres">
      <dgm:prSet presAssocID="{43A9BDFE-CB1D-4387-9F8D-EA2EE7E9DE1A}" presName="composite" presStyleCnt="0"/>
      <dgm:spPr/>
    </dgm:pt>
    <dgm:pt modelId="{4FD78481-2D2C-477A-ADDD-86D209D6F90D}" type="pres">
      <dgm:prSet presAssocID="{43A9BDFE-CB1D-4387-9F8D-EA2EE7E9DE1A}" presName="imgShp" presStyleLbl="fgImgPlace1" presStyleIdx="1" presStyleCnt="4" custLinFactX="-29625" custLinFactNeighborX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0D07E0FC-1B55-4D61-A984-2863278A49FC}" type="pres">
      <dgm:prSet presAssocID="{43A9BDFE-CB1D-4387-9F8D-EA2EE7E9DE1A}" presName="txShp" presStyleLbl="node1" presStyleIdx="1" presStyleCnt="4" custScaleX="141276" custLinFactNeighborX="61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ED228D-0D1E-4DE1-A1B6-73C3F262549F}" type="pres">
      <dgm:prSet presAssocID="{4367CFC8-BB49-440A-8190-9AB13EEBED37}" presName="spacing" presStyleCnt="0"/>
      <dgm:spPr/>
    </dgm:pt>
    <dgm:pt modelId="{5327B418-F509-4A94-864C-25442893D1F7}" type="pres">
      <dgm:prSet presAssocID="{44329441-68EE-4337-8F94-10962BBBB1C6}" presName="composite" presStyleCnt="0"/>
      <dgm:spPr/>
    </dgm:pt>
    <dgm:pt modelId="{A430467B-D9CA-43FC-B1DE-95D23FC8934B}" type="pres">
      <dgm:prSet presAssocID="{44329441-68EE-4337-8F94-10962BBBB1C6}" presName="imgShp" presStyleLbl="fgImgPlace1" presStyleIdx="2" presStyleCnt="4" custLinFactX="-29625" custLinFactNeighborX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ADDA3F9-B5F8-4C2B-8301-0D115987E274}" type="pres">
      <dgm:prSet presAssocID="{44329441-68EE-4337-8F94-10962BBBB1C6}" presName="txShp" presStyleLbl="node1" presStyleIdx="2" presStyleCnt="4" custScaleX="141276" custLinFactNeighborX="61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CEC385C-5418-4659-9E0F-405399B068C5}" type="pres">
      <dgm:prSet presAssocID="{489BB57B-A49B-433A-9D97-633898378269}" presName="spacing" presStyleCnt="0"/>
      <dgm:spPr/>
    </dgm:pt>
    <dgm:pt modelId="{FBD3CE7C-6B56-4D55-92DC-E4004D0046B6}" type="pres">
      <dgm:prSet presAssocID="{AC883D18-90CA-4974-AC9C-BFED548BB256}" presName="composite" presStyleCnt="0"/>
      <dgm:spPr/>
    </dgm:pt>
    <dgm:pt modelId="{6AF90E67-85AB-4FD0-A008-6CF1CF019004}" type="pres">
      <dgm:prSet presAssocID="{AC883D18-90CA-4974-AC9C-BFED548BB256}" presName="imgShp" presStyleLbl="fgImgPlace1" presStyleIdx="3" presStyleCnt="4" custLinFactX="-29625" custLinFactNeighborX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80162FCD-4D6B-44CE-B852-8A6065BE79EA}" type="pres">
      <dgm:prSet presAssocID="{AC883D18-90CA-4974-AC9C-BFED548BB256}" presName="txShp" presStyleLbl="node1" presStyleIdx="3" presStyleCnt="4" custScaleX="141276" custLinFactNeighborX="61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03F28FD-A5DB-41D3-80ED-94BA646DF79B}" srcId="{48F3885D-02A6-4DE1-BD10-632D058AFB60}" destId="{44329441-68EE-4337-8F94-10962BBBB1C6}" srcOrd="2" destOrd="0" parTransId="{943A7B32-4979-47F7-B338-D273F53D104A}" sibTransId="{489BB57B-A49B-433A-9D97-633898378269}"/>
    <dgm:cxn modelId="{1A6CECFE-0ED7-4A92-AFDD-7CAE3A7CB294}" srcId="{48F3885D-02A6-4DE1-BD10-632D058AFB60}" destId="{AC883D18-90CA-4974-AC9C-BFED548BB256}" srcOrd="3" destOrd="0" parTransId="{11396B2D-A4F0-465A-B096-FA05FCFAEC94}" sibTransId="{FC7FABCC-E0D3-43B2-B632-B961D2BF8AE3}"/>
    <dgm:cxn modelId="{FB48A24A-94BF-4311-8584-BCC0EAA0B81B}" srcId="{48F3885D-02A6-4DE1-BD10-632D058AFB60}" destId="{11ECA332-A74F-4193-B88E-B33E7639ADEC}" srcOrd="0" destOrd="0" parTransId="{1009A6A1-9E44-4301-894E-8965AAA98C4C}" sibTransId="{8BD84A48-4814-4C0B-B81A-07CE26502740}"/>
    <dgm:cxn modelId="{D94F14EB-F0A3-4B9C-9D55-41CE95D3E174}" type="presOf" srcId="{AC883D18-90CA-4974-AC9C-BFED548BB256}" destId="{80162FCD-4D6B-44CE-B852-8A6065BE79EA}" srcOrd="0" destOrd="0" presId="urn:microsoft.com/office/officeart/2005/8/layout/vList3#1"/>
    <dgm:cxn modelId="{2A279B2A-A1B2-499D-B0D6-1FBA6E49630E}" type="presOf" srcId="{48F3885D-02A6-4DE1-BD10-632D058AFB60}" destId="{0C0FD1F3-E3A9-4075-B627-92B8555BAE01}" srcOrd="0" destOrd="0" presId="urn:microsoft.com/office/officeart/2005/8/layout/vList3#1"/>
    <dgm:cxn modelId="{38023EFA-7421-4A8C-9E87-65E9F4CF3579}" type="presOf" srcId="{44329441-68EE-4337-8F94-10962BBBB1C6}" destId="{CADDA3F9-B5F8-4C2B-8301-0D115987E274}" srcOrd="0" destOrd="0" presId="urn:microsoft.com/office/officeart/2005/8/layout/vList3#1"/>
    <dgm:cxn modelId="{607AB74A-2D15-46BB-892D-D315146AB6C6}" type="presOf" srcId="{43A9BDFE-CB1D-4387-9F8D-EA2EE7E9DE1A}" destId="{0D07E0FC-1B55-4D61-A984-2863278A49FC}" srcOrd="0" destOrd="0" presId="urn:microsoft.com/office/officeart/2005/8/layout/vList3#1"/>
    <dgm:cxn modelId="{FFCD8F4C-30DC-4F84-B58F-D6D71DD492EA}" type="presOf" srcId="{11ECA332-A74F-4193-B88E-B33E7639ADEC}" destId="{411BDC39-CEA8-490F-8F28-1D8B637E30F1}" srcOrd="0" destOrd="0" presId="urn:microsoft.com/office/officeart/2005/8/layout/vList3#1"/>
    <dgm:cxn modelId="{7A1D9F37-582B-41C9-8BC5-E7C2F5C5D4E3}" srcId="{48F3885D-02A6-4DE1-BD10-632D058AFB60}" destId="{43A9BDFE-CB1D-4387-9F8D-EA2EE7E9DE1A}" srcOrd="1" destOrd="0" parTransId="{3249BA21-45A7-40DE-AB70-B6892B858CF4}" sibTransId="{4367CFC8-BB49-440A-8190-9AB13EEBED37}"/>
    <dgm:cxn modelId="{A5B2D07D-8D6E-47DA-8FDD-50779B3C9FC7}" type="presParOf" srcId="{0C0FD1F3-E3A9-4075-B627-92B8555BAE01}" destId="{A54F760D-92C2-443D-BC23-EACAE5318D16}" srcOrd="0" destOrd="0" presId="urn:microsoft.com/office/officeart/2005/8/layout/vList3#1"/>
    <dgm:cxn modelId="{FC25DC13-AE27-4D3A-A5FA-82BAD5647E2C}" type="presParOf" srcId="{A54F760D-92C2-443D-BC23-EACAE5318D16}" destId="{A83C9B4E-9823-45CF-A489-A36A20718C38}" srcOrd="0" destOrd="0" presId="urn:microsoft.com/office/officeart/2005/8/layout/vList3#1"/>
    <dgm:cxn modelId="{58CA7409-88BE-4290-8339-EB3E0564E8FF}" type="presParOf" srcId="{A54F760D-92C2-443D-BC23-EACAE5318D16}" destId="{411BDC39-CEA8-490F-8F28-1D8B637E30F1}" srcOrd="1" destOrd="0" presId="urn:microsoft.com/office/officeart/2005/8/layout/vList3#1"/>
    <dgm:cxn modelId="{9F3EB5CC-9026-4908-9EC2-1BEE5A081E0B}" type="presParOf" srcId="{0C0FD1F3-E3A9-4075-B627-92B8555BAE01}" destId="{978D8CF2-C064-4293-9FDD-F30A1EBC4EA2}" srcOrd="1" destOrd="0" presId="urn:microsoft.com/office/officeart/2005/8/layout/vList3#1"/>
    <dgm:cxn modelId="{A4720CC2-4DCC-4174-8C8F-A861A3AC268B}" type="presParOf" srcId="{0C0FD1F3-E3A9-4075-B627-92B8555BAE01}" destId="{F9CAF449-52EB-485F-8A14-7783ABCC2C49}" srcOrd="2" destOrd="0" presId="urn:microsoft.com/office/officeart/2005/8/layout/vList3#1"/>
    <dgm:cxn modelId="{24C1D9B6-BFBD-46AE-B0ED-8917BB66186C}" type="presParOf" srcId="{F9CAF449-52EB-485F-8A14-7783ABCC2C49}" destId="{4FD78481-2D2C-477A-ADDD-86D209D6F90D}" srcOrd="0" destOrd="0" presId="urn:microsoft.com/office/officeart/2005/8/layout/vList3#1"/>
    <dgm:cxn modelId="{F8E1D182-55D7-48CD-B7FD-CEA5841E3F52}" type="presParOf" srcId="{F9CAF449-52EB-485F-8A14-7783ABCC2C49}" destId="{0D07E0FC-1B55-4D61-A984-2863278A49FC}" srcOrd="1" destOrd="0" presId="urn:microsoft.com/office/officeart/2005/8/layout/vList3#1"/>
    <dgm:cxn modelId="{02F654F2-6294-4F91-BAF0-886981A82CB4}" type="presParOf" srcId="{0C0FD1F3-E3A9-4075-B627-92B8555BAE01}" destId="{98ED228D-0D1E-4DE1-A1B6-73C3F262549F}" srcOrd="3" destOrd="0" presId="urn:microsoft.com/office/officeart/2005/8/layout/vList3#1"/>
    <dgm:cxn modelId="{1A117C23-2750-49E0-8C28-194C1A66FDED}" type="presParOf" srcId="{0C0FD1F3-E3A9-4075-B627-92B8555BAE01}" destId="{5327B418-F509-4A94-864C-25442893D1F7}" srcOrd="4" destOrd="0" presId="urn:microsoft.com/office/officeart/2005/8/layout/vList3#1"/>
    <dgm:cxn modelId="{2A879A82-E878-4F62-8D46-D0BE05528599}" type="presParOf" srcId="{5327B418-F509-4A94-864C-25442893D1F7}" destId="{A430467B-D9CA-43FC-B1DE-95D23FC8934B}" srcOrd="0" destOrd="0" presId="urn:microsoft.com/office/officeart/2005/8/layout/vList3#1"/>
    <dgm:cxn modelId="{A4ACFBEC-C5BA-4EA2-BF9A-E068064B8488}" type="presParOf" srcId="{5327B418-F509-4A94-864C-25442893D1F7}" destId="{CADDA3F9-B5F8-4C2B-8301-0D115987E274}" srcOrd="1" destOrd="0" presId="urn:microsoft.com/office/officeart/2005/8/layout/vList3#1"/>
    <dgm:cxn modelId="{7EA5819B-1753-4A74-B4F6-F690D300372A}" type="presParOf" srcId="{0C0FD1F3-E3A9-4075-B627-92B8555BAE01}" destId="{4CEC385C-5418-4659-9E0F-405399B068C5}" srcOrd="5" destOrd="0" presId="urn:microsoft.com/office/officeart/2005/8/layout/vList3#1"/>
    <dgm:cxn modelId="{2BDC82D0-9A51-4D84-8680-34045CF73711}" type="presParOf" srcId="{0C0FD1F3-E3A9-4075-B627-92B8555BAE01}" destId="{FBD3CE7C-6B56-4D55-92DC-E4004D0046B6}" srcOrd="6" destOrd="0" presId="urn:microsoft.com/office/officeart/2005/8/layout/vList3#1"/>
    <dgm:cxn modelId="{3F68DDCA-3103-4D64-A7C8-4F70E62EBC1C}" type="presParOf" srcId="{FBD3CE7C-6B56-4D55-92DC-E4004D0046B6}" destId="{6AF90E67-85AB-4FD0-A008-6CF1CF019004}" srcOrd="0" destOrd="0" presId="urn:microsoft.com/office/officeart/2005/8/layout/vList3#1"/>
    <dgm:cxn modelId="{464E674E-AB49-4690-B63D-307D07F068DC}" type="presParOf" srcId="{FBD3CE7C-6B56-4D55-92DC-E4004D0046B6}" destId="{80162FCD-4D6B-44CE-B852-8A6065BE79EA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BDC39-CEA8-490F-8F28-1D8B637E30F1}">
      <dsp:nvSpPr>
        <dsp:cNvPr id="0" name=""/>
        <dsp:cNvSpPr/>
      </dsp:nvSpPr>
      <dsp:spPr>
        <a:xfrm rot="10800000">
          <a:off x="463084" y="977"/>
          <a:ext cx="7189365" cy="926290"/>
        </a:xfrm>
        <a:prstGeom prst="homePlate">
          <a:avLst/>
        </a:prstGeom>
        <a:solidFill>
          <a:srgbClr val="2C3581"/>
        </a:solidFill>
        <a:ln w="25400" cap="flat" cmpd="sng" algn="ctr">
          <a:solidFill>
            <a:srgbClr val="2C358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468" tIns="68580" rIns="128016" bIns="68580" numCol="1" spcCol="1270" anchor="ctr" anchorCtr="0">
          <a:noAutofit/>
        </a:bodyPr>
        <a:lstStyle/>
        <a:p>
          <a:pPr marL="358775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kern="1200" dirty="0" smtClean="0">
              <a:solidFill>
                <a:schemeClr val="bg1"/>
              </a:solidFill>
            </a:rPr>
            <a:t>Dimensioni del mercato e valore aggiunto in percentuale del PIL</a:t>
          </a:r>
          <a:r>
            <a:rPr lang="en-GB" sz="1800" kern="1200" dirty="0" smtClean="0">
              <a:solidFill>
                <a:schemeClr val="bg1"/>
              </a:solidFill>
            </a:rPr>
            <a:t/>
          </a:r>
          <a:br>
            <a:rPr lang="en-GB" sz="1800" kern="1200" dirty="0" smtClean="0">
              <a:solidFill>
                <a:schemeClr val="bg1"/>
              </a:solidFill>
            </a:rPr>
          </a:br>
          <a:r>
            <a:rPr lang="it-IT" sz="1400" kern="1200" dirty="0" smtClean="0">
              <a:solidFill>
                <a:schemeClr val="bg1"/>
              </a:solidFill>
            </a:rPr>
            <a:t>La dimensione del mercato è definita attraverso il volume di mercato (volumi di vendita realizzati) e il potenziale di mercato.</a:t>
          </a:r>
          <a:endParaRPr lang="fr-FR" sz="18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694656" y="977"/>
        <a:ext cx="6957793" cy="926290"/>
      </dsp:txXfrm>
    </dsp:sp>
    <dsp:sp modelId="{A83C9B4E-9823-45CF-A489-A36A20718C38}">
      <dsp:nvSpPr>
        <dsp:cNvPr id="0" name=""/>
        <dsp:cNvSpPr/>
      </dsp:nvSpPr>
      <dsp:spPr>
        <a:xfrm>
          <a:off x="0" y="977"/>
          <a:ext cx="926290" cy="9262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7E0FC-1B55-4D61-A984-2863278A49FC}">
      <dsp:nvSpPr>
        <dsp:cNvPr id="0" name=""/>
        <dsp:cNvSpPr/>
      </dsp:nvSpPr>
      <dsp:spPr>
        <a:xfrm rot="10800000">
          <a:off x="463084" y="1203772"/>
          <a:ext cx="7189365" cy="926290"/>
        </a:xfrm>
        <a:prstGeom prst="homePlate">
          <a:avLst/>
        </a:prstGeom>
        <a:solidFill>
          <a:srgbClr val="0C71B6"/>
        </a:solidFill>
        <a:ln w="25400" cap="flat" cmpd="sng" algn="ctr">
          <a:solidFill>
            <a:srgbClr val="0C71B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468" tIns="68580" rIns="128016" bIns="68580" numCol="1" spcCol="1270" anchor="ctr" anchorCtr="0">
          <a:noAutofit/>
        </a:bodyPr>
        <a:lstStyle/>
        <a:p>
          <a:pPr marL="358775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err="1" smtClean="0">
              <a:solidFill>
                <a:schemeClr val="bg1"/>
              </a:solidFill>
            </a:rPr>
            <a:t>Posti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di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lavoro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creati</a:t>
          </a:r>
          <a:r>
            <a:rPr lang="en-GB" sz="1800" b="1" kern="1200" dirty="0" smtClean="0">
              <a:solidFill>
                <a:schemeClr val="bg1"/>
              </a:solidFill>
            </a:rPr>
            <a:t/>
          </a:r>
          <a:br>
            <a:rPr lang="en-GB" sz="1800" b="1" kern="1200" dirty="0" smtClean="0">
              <a:solidFill>
                <a:schemeClr val="bg1"/>
              </a:solidFill>
            </a:rPr>
          </a:br>
          <a:r>
            <a:rPr lang="en-GB" sz="1400" kern="1200" dirty="0" err="1" smtClean="0">
              <a:solidFill>
                <a:schemeClr val="bg1"/>
              </a:solidFill>
            </a:rPr>
            <a:t>Numero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posti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lavoro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addizionali</a:t>
          </a:r>
          <a:r>
            <a:rPr lang="en-GB" sz="1400" kern="1200" dirty="0" smtClean="0">
              <a:solidFill>
                <a:schemeClr val="bg1"/>
              </a:solidFill>
            </a:rPr>
            <a:t> (in </a:t>
          </a:r>
          <a:r>
            <a:rPr lang="en-GB" sz="1400" kern="1200" dirty="0" err="1" smtClean="0">
              <a:solidFill>
                <a:schemeClr val="bg1"/>
              </a:solidFill>
            </a:rPr>
            <a:t>persone</a:t>
          </a:r>
          <a:r>
            <a:rPr lang="en-GB" sz="1400" kern="1200" dirty="0" smtClean="0">
              <a:solidFill>
                <a:schemeClr val="bg1"/>
              </a:solidFill>
            </a:rPr>
            <a:t>) </a:t>
          </a:r>
          <a:r>
            <a:rPr lang="en-GB" sz="1400" kern="1200" dirty="0" err="1" smtClean="0">
              <a:solidFill>
                <a:schemeClr val="bg1"/>
              </a:solidFill>
            </a:rPr>
            <a:t>creati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direttamente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dagli</a:t>
          </a:r>
          <a:r>
            <a:rPr lang="en-GB" sz="1400" kern="1200" dirty="0" smtClean="0">
              <a:solidFill>
                <a:schemeClr val="bg1"/>
              </a:solidFill>
            </a:rPr>
            <a:t> Open Data </a:t>
          </a:r>
          <a:r>
            <a:rPr lang="en-GB" sz="1400" kern="1200" dirty="0" err="1" smtClean="0">
              <a:solidFill>
                <a:schemeClr val="bg1"/>
              </a:solidFill>
            </a:rPr>
            <a:t>nel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settore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privato</a:t>
          </a:r>
          <a:r>
            <a:rPr lang="en-GB" sz="1400" kern="1200" dirty="0" smtClean="0">
              <a:solidFill>
                <a:schemeClr val="bg1"/>
              </a:solidFill>
            </a:rPr>
            <a:t>. </a:t>
          </a:r>
          <a:endParaRPr lang="fr-FR" sz="14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694656" y="1203772"/>
        <a:ext cx="6957793" cy="926290"/>
      </dsp:txXfrm>
    </dsp:sp>
    <dsp:sp modelId="{4FD78481-2D2C-477A-ADDD-86D209D6F90D}">
      <dsp:nvSpPr>
        <dsp:cNvPr id="0" name=""/>
        <dsp:cNvSpPr/>
      </dsp:nvSpPr>
      <dsp:spPr>
        <a:xfrm>
          <a:off x="0" y="1203772"/>
          <a:ext cx="926290" cy="9262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DA3F9-B5F8-4C2B-8301-0D115987E274}">
      <dsp:nvSpPr>
        <dsp:cNvPr id="0" name=""/>
        <dsp:cNvSpPr/>
      </dsp:nvSpPr>
      <dsp:spPr>
        <a:xfrm rot="10800000">
          <a:off x="463084" y="2406567"/>
          <a:ext cx="7189365" cy="926290"/>
        </a:xfrm>
        <a:prstGeom prst="homePlate">
          <a:avLst/>
        </a:prstGeom>
        <a:solidFill>
          <a:srgbClr val="00AEEF"/>
        </a:solidFill>
        <a:ln w="25400" cap="flat" cmpd="sng" algn="ctr">
          <a:solidFill>
            <a:srgbClr val="00AEE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468" tIns="68580" rIns="128016" bIns="68580" numCol="1" spcCol="1270" anchor="ctr" anchorCtr="0">
          <a:noAutofit/>
        </a:bodyPr>
        <a:lstStyle/>
        <a:p>
          <a:pPr marL="358775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err="1" smtClean="0">
              <a:solidFill>
                <a:schemeClr val="bg1"/>
              </a:solidFill>
            </a:rPr>
            <a:t>Risparmi</a:t>
          </a:r>
          <a:r>
            <a:rPr lang="en-GB" sz="1800" b="1" kern="1200" dirty="0" smtClean="0">
              <a:solidFill>
                <a:schemeClr val="bg1"/>
              </a:solidFill>
            </a:rPr>
            <a:t> per </a:t>
          </a:r>
          <a:r>
            <a:rPr lang="en-GB" sz="1800" b="1" kern="1200" dirty="0" err="1" smtClean="0">
              <a:solidFill>
                <a:schemeClr val="bg1"/>
              </a:solidFill>
            </a:rPr>
            <a:t>il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settore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pubblico</a:t>
          </a:r>
          <a:r>
            <a:rPr lang="en-GB" sz="1800" kern="1200" dirty="0" smtClean="0">
              <a:solidFill>
                <a:schemeClr val="bg1"/>
              </a:solidFill>
            </a:rPr>
            <a:t/>
          </a:r>
          <a:br>
            <a:rPr lang="en-GB" sz="1800" kern="1200" dirty="0" smtClean="0">
              <a:solidFill>
                <a:schemeClr val="bg1"/>
              </a:solidFill>
            </a:rPr>
          </a:br>
          <a:r>
            <a:rPr lang="en-GB" sz="1400" kern="1200" dirty="0" smtClean="0">
              <a:solidFill>
                <a:schemeClr val="bg1"/>
              </a:solidFill>
            </a:rPr>
            <a:t>I </a:t>
          </a:r>
          <a:r>
            <a:rPr lang="en-GB" sz="1400" kern="1200" dirty="0" err="1" smtClean="0">
              <a:solidFill>
                <a:schemeClr val="bg1"/>
              </a:solidFill>
            </a:rPr>
            <a:t>risparmi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includono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l’efficienza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generata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attraverso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l’utilizzo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degli</a:t>
          </a:r>
          <a:r>
            <a:rPr lang="en-GB" sz="1400" kern="1200" dirty="0" smtClean="0">
              <a:solidFill>
                <a:schemeClr val="bg1"/>
              </a:solidFill>
            </a:rPr>
            <a:t> Open Data, </a:t>
          </a:r>
          <a:r>
            <a:rPr lang="en-GB" sz="1400" kern="1200" dirty="0" err="1" smtClean="0">
              <a:solidFill>
                <a:schemeClr val="bg1"/>
              </a:solidFill>
            </a:rPr>
            <a:t>costi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transazione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eliminati</a:t>
          </a:r>
          <a:r>
            <a:rPr lang="en-GB" sz="1400" kern="1200" dirty="0" smtClean="0">
              <a:solidFill>
                <a:schemeClr val="bg1"/>
              </a:solidFill>
            </a:rPr>
            <a:t> per la </a:t>
          </a:r>
          <a:r>
            <a:rPr lang="en-GB" sz="1400" kern="1200" dirty="0" err="1" smtClean="0">
              <a:solidFill>
                <a:schemeClr val="bg1"/>
              </a:solidFill>
            </a:rPr>
            <a:t>fornitura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dati</a:t>
          </a:r>
          <a:r>
            <a:rPr lang="en-GB" sz="1400" kern="1200" dirty="0" smtClean="0">
              <a:solidFill>
                <a:schemeClr val="bg1"/>
              </a:solidFill>
            </a:rPr>
            <a:t>, </a:t>
          </a:r>
          <a:r>
            <a:rPr lang="en-GB" sz="1400" kern="1200" dirty="0" err="1" smtClean="0">
              <a:solidFill>
                <a:schemeClr val="bg1"/>
              </a:solidFill>
            </a:rPr>
            <a:t>realizzando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maggior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trasparenza</a:t>
          </a:r>
          <a:r>
            <a:rPr lang="en-GB" sz="1400" kern="1200" dirty="0" smtClean="0">
              <a:solidFill>
                <a:schemeClr val="bg1"/>
              </a:solidFill>
            </a:rPr>
            <a:t>.</a:t>
          </a:r>
          <a:endParaRPr lang="fr-FR" sz="14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694656" y="2406567"/>
        <a:ext cx="6957793" cy="926290"/>
      </dsp:txXfrm>
    </dsp:sp>
    <dsp:sp modelId="{A430467B-D9CA-43FC-B1DE-95D23FC8934B}">
      <dsp:nvSpPr>
        <dsp:cNvPr id="0" name=""/>
        <dsp:cNvSpPr/>
      </dsp:nvSpPr>
      <dsp:spPr>
        <a:xfrm>
          <a:off x="0" y="2406567"/>
          <a:ext cx="926290" cy="9262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62FCD-4D6B-44CE-B852-8A6065BE79EA}">
      <dsp:nvSpPr>
        <dsp:cNvPr id="0" name=""/>
        <dsp:cNvSpPr/>
      </dsp:nvSpPr>
      <dsp:spPr>
        <a:xfrm rot="10800000">
          <a:off x="463084" y="3609362"/>
          <a:ext cx="7189365" cy="926290"/>
        </a:xfrm>
        <a:prstGeom prst="homePlate">
          <a:avLst/>
        </a:prstGeom>
        <a:solidFill>
          <a:srgbClr val="F9A01B"/>
        </a:solidFill>
        <a:ln w="25400" cap="flat" cmpd="sng" algn="ctr">
          <a:solidFill>
            <a:srgbClr val="F9A01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468" tIns="68580" rIns="128016" bIns="68580" numCol="1" spcCol="1270" anchor="ctr" anchorCtr="0">
          <a:noAutofit/>
        </a:bodyPr>
        <a:lstStyle/>
        <a:p>
          <a:pPr marL="358775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800" b="1" kern="1200" noProof="0" dirty="0" smtClean="0">
              <a:solidFill>
                <a:schemeClr val="bg1"/>
              </a:solidFill>
            </a:rPr>
            <a:t>Aumento </a:t>
          </a:r>
          <a:r>
            <a:rPr lang="en-GB" sz="1800" b="1" kern="1200" dirty="0" err="1" smtClean="0">
              <a:solidFill>
                <a:schemeClr val="bg1"/>
              </a:solidFill>
            </a:rPr>
            <a:t>di</a:t>
          </a:r>
          <a:r>
            <a:rPr lang="en-GB" sz="1800" b="1" kern="1200" dirty="0" smtClean="0">
              <a:solidFill>
                <a:schemeClr val="bg1"/>
              </a:solidFill>
            </a:rPr>
            <a:t> </a:t>
          </a:r>
          <a:r>
            <a:rPr lang="en-GB" sz="1800" b="1" kern="1200" dirty="0" err="1" smtClean="0">
              <a:solidFill>
                <a:schemeClr val="bg1"/>
              </a:solidFill>
            </a:rPr>
            <a:t>efficienza</a:t>
          </a:r>
          <a:r>
            <a:rPr lang="en-GB" sz="1800" b="1" kern="1200" dirty="0" smtClean="0">
              <a:solidFill>
                <a:schemeClr val="bg1"/>
              </a:solidFill>
            </a:rPr>
            <a:t> e </a:t>
          </a:r>
          <a:r>
            <a:rPr lang="en-GB" sz="1800" b="1" kern="1200" dirty="0" err="1" smtClean="0">
              <a:solidFill>
                <a:schemeClr val="bg1"/>
              </a:solidFill>
            </a:rPr>
            <a:t>produttività</a:t>
          </a:r>
          <a:r>
            <a:rPr lang="en-GB" sz="1800" kern="1200" dirty="0" smtClean="0">
              <a:solidFill>
                <a:schemeClr val="bg1"/>
              </a:solidFill>
            </a:rPr>
            <a:t/>
          </a:r>
          <a:br>
            <a:rPr lang="en-GB" sz="1800" kern="1200" dirty="0" smtClean="0">
              <a:solidFill>
                <a:schemeClr val="bg1"/>
              </a:solidFill>
            </a:rPr>
          </a:br>
          <a:r>
            <a:rPr lang="en-GB" sz="1400" kern="1200" dirty="0" err="1" smtClean="0">
              <a:solidFill>
                <a:schemeClr val="bg1"/>
              </a:solidFill>
            </a:rPr>
            <a:t>Valuta</a:t>
          </a:r>
          <a:r>
            <a:rPr lang="en-GB" sz="1400" kern="1200" dirty="0" smtClean="0">
              <a:solidFill>
                <a:schemeClr val="bg1"/>
              </a:solidFill>
            </a:rPr>
            <a:t> I </a:t>
          </a:r>
          <a:r>
            <a:rPr lang="en-GB" sz="1400" kern="1200" dirty="0" err="1" smtClean="0">
              <a:solidFill>
                <a:schemeClr val="bg1"/>
              </a:solidFill>
            </a:rPr>
            <a:t>benefici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indiretti</a:t>
          </a:r>
          <a:r>
            <a:rPr lang="en-GB" sz="1400" kern="1200" dirty="0" smtClean="0">
              <a:solidFill>
                <a:schemeClr val="bg1"/>
              </a:solidFill>
            </a:rPr>
            <a:t> per I </a:t>
          </a:r>
          <a:r>
            <a:rPr lang="en-GB" sz="1400" kern="1200" dirty="0" err="1" smtClean="0">
              <a:solidFill>
                <a:schemeClr val="bg1"/>
              </a:solidFill>
            </a:rPr>
            <a:t>cittadini</a:t>
          </a:r>
          <a:r>
            <a:rPr lang="en-GB" sz="1400" kern="1200" dirty="0" smtClean="0">
              <a:solidFill>
                <a:schemeClr val="bg1"/>
              </a:solidFill>
            </a:rPr>
            <a:t>, in termini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risparmio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di</a:t>
          </a:r>
          <a:r>
            <a:rPr lang="en-GB" sz="1400" kern="1200" dirty="0" smtClean="0">
              <a:solidFill>
                <a:schemeClr val="bg1"/>
              </a:solidFill>
            </a:rPr>
            <a:t> tempo, </a:t>
          </a:r>
          <a:r>
            <a:rPr lang="en-GB" sz="1400" kern="1200" dirty="0" err="1" smtClean="0">
              <a:solidFill>
                <a:schemeClr val="bg1"/>
              </a:solidFill>
            </a:rPr>
            <a:t>vite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salvate</a:t>
          </a:r>
          <a:r>
            <a:rPr lang="en-GB" sz="1400" kern="1200" dirty="0" smtClean="0">
              <a:solidFill>
                <a:schemeClr val="bg1"/>
              </a:solidFill>
            </a:rPr>
            <a:t>, </a:t>
          </a:r>
          <a:r>
            <a:rPr lang="en-GB" sz="1400" kern="1200" dirty="0" err="1" smtClean="0">
              <a:solidFill>
                <a:schemeClr val="bg1"/>
              </a:solidFill>
            </a:rPr>
            <a:t>aumento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della</a:t>
          </a:r>
          <a:r>
            <a:rPr lang="en-GB" sz="1400" kern="1200" dirty="0" smtClean="0">
              <a:solidFill>
                <a:schemeClr val="bg1"/>
              </a:solidFill>
            </a:rPr>
            <a:t> </a:t>
          </a:r>
          <a:r>
            <a:rPr lang="en-GB" sz="1400" kern="1200" dirty="0" err="1" smtClean="0">
              <a:solidFill>
                <a:schemeClr val="bg1"/>
              </a:solidFill>
            </a:rPr>
            <a:t>produttività</a:t>
          </a:r>
          <a:endParaRPr lang="fr-FR" sz="18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694656" y="3609362"/>
        <a:ext cx="6957793" cy="926290"/>
      </dsp:txXfrm>
    </dsp:sp>
    <dsp:sp modelId="{6AF90E67-85AB-4FD0-A008-6CF1CF019004}">
      <dsp:nvSpPr>
        <dsp:cNvPr id="0" name=""/>
        <dsp:cNvSpPr/>
      </dsp:nvSpPr>
      <dsp:spPr>
        <a:xfrm>
          <a:off x="0" y="3609362"/>
          <a:ext cx="926290" cy="9262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1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EAF458E-338F-4C79-8E1F-624020FCE313}" type="datetimeFigureOut">
              <a:rPr lang="en-US"/>
              <a:pPr>
                <a:defRPr/>
              </a:pPr>
              <a:t>9/5/2016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 smtClean="0"/>
              <a:t>Blank.potx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BDED720-39B0-4DAF-9C53-E753DAD284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6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C54B1F5-60EA-4F7B-BCF7-6B2316863496}" type="datetimeFigureOut">
              <a:rPr lang="en-GB"/>
              <a:pPr>
                <a:defRPr/>
              </a:pPr>
              <a:t>05/09/2016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39775"/>
            <a:ext cx="53498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1" y="4689475"/>
            <a:ext cx="5438775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8E3971F-5A65-4713-8934-77774D1688B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15495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E3971F-5A65-4713-8934-77774D1688B3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3923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Char char="§"/>
            </a:pPr>
            <a:endParaRPr lang="en-US" dirty="0" smtClean="0"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8329AA-A8E2-4E50-8087-F589E76C9C32}" type="slidenum">
              <a:rPr lang="en-GB">
                <a:cs typeface="Calibri"/>
              </a:rPr>
              <a:pPr>
                <a:defRPr/>
              </a:pPr>
              <a:t>3</a:t>
            </a:fld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6109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2.png"/><Relationship Id="rId3" Type="http://schemas.openxmlformats.org/officeDocument/2006/relationships/tags" Target="../tags/tag5.xml"/><Relationship Id="rId7" Type="http://schemas.openxmlformats.org/officeDocument/2006/relationships/image" Target="../media/image11.jpeg"/><Relationship Id="rId12" Type="http://schemas.openxmlformats.org/officeDocument/2006/relationships/image" Target="../media/image8.png"/><Relationship Id="rId17" Type="http://schemas.openxmlformats.org/officeDocument/2006/relationships/image" Target="../media/image9.png"/><Relationship Id="rId2" Type="http://schemas.openxmlformats.org/officeDocument/2006/relationships/tags" Target="../tags/tag4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6.png"/><Relationship Id="rId5" Type="http://schemas.openxmlformats.org/officeDocument/2006/relationships/tags" Target="../tags/tag7.xml"/><Relationship Id="rId15" Type="http://schemas.openxmlformats.org/officeDocument/2006/relationships/image" Target="../media/image3.png"/><Relationship Id="rId10" Type="http://schemas.openxmlformats.org/officeDocument/2006/relationships/image" Target="../media/image5.jpeg"/><Relationship Id="rId4" Type="http://schemas.openxmlformats.org/officeDocument/2006/relationships/tags" Target="../tags/tag6.xml"/><Relationship Id="rId9" Type="http://schemas.openxmlformats.org/officeDocument/2006/relationships/image" Target="../media/image4.jpe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7.jpeg"/><Relationship Id="rId5" Type="http://schemas.openxmlformats.org/officeDocument/2006/relationships/image" Target="../media/image1.emf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7.jpe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2" Type="http://schemas.openxmlformats.org/officeDocument/2006/relationships/image" Target="../media/image16.w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8"/>
          <a:stretch>
            <a:fillRect/>
          </a:stretch>
        </p:blipFill>
        <p:spPr>
          <a:xfrm>
            <a:off x="0" y="332570"/>
            <a:ext cx="9930762" cy="6525430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think-cell Slide" r:id="rId8" imgW="0" imgH="0" progId="">
                  <p:embed/>
                </p:oleObj>
              </mc:Choice>
              <mc:Fallback>
                <p:oleObj name="think-cell Slide" r:id="rId8" imgW="0" imgH="0" progId="">
                  <p:embed/>
                  <p:pic>
                    <p:nvPicPr>
                      <p:cNvPr id="0" name="AutoShape 69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-15690" y="20504"/>
            <a:ext cx="9946452" cy="3284980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63461 w 12124541"/>
              <a:gd name="connsiteY0" fmla="*/ 2791 h 2958168"/>
              <a:gd name="connsiteX1" fmla="*/ 12123785 w 12124541"/>
              <a:gd name="connsiteY1" fmla="*/ 0 h 2958168"/>
              <a:gd name="connsiteX2" fmla="*/ 12123287 w 12124541"/>
              <a:gd name="connsiteY2" fmla="*/ 1476338 h 2958168"/>
              <a:gd name="connsiteX3" fmla="*/ 10850724 w 12124541"/>
              <a:gd name="connsiteY3" fmla="*/ 2153103 h 2958168"/>
              <a:gd name="connsiteX4" fmla="*/ 3879688 w 12124541"/>
              <a:gd name="connsiteY4" fmla="*/ 2159512 h 2958168"/>
              <a:gd name="connsiteX5" fmla="*/ 2743019 w 12124541"/>
              <a:gd name="connsiteY5" fmla="*/ 2958168 h 2958168"/>
              <a:gd name="connsiteX6" fmla="*/ 1563461 w 12124541"/>
              <a:gd name="connsiteY6" fmla="*/ 2791 h 2958168"/>
              <a:gd name="connsiteX0" fmla="*/ 1563461 w 11102298"/>
              <a:gd name="connsiteY0" fmla="*/ 0 h 2958168"/>
              <a:gd name="connsiteX1" fmla="*/ 11101542 w 11102298"/>
              <a:gd name="connsiteY1" fmla="*/ 0 h 2958168"/>
              <a:gd name="connsiteX2" fmla="*/ 11101044 w 11102298"/>
              <a:gd name="connsiteY2" fmla="*/ 1476338 h 2958168"/>
              <a:gd name="connsiteX3" fmla="*/ 9828481 w 11102298"/>
              <a:gd name="connsiteY3" fmla="*/ 2153103 h 2958168"/>
              <a:gd name="connsiteX4" fmla="*/ 2857445 w 11102298"/>
              <a:gd name="connsiteY4" fmla="*/ 2159512 h 2958168"/>
              <a:gd name="connsiteX5" fmla="*/ 1720776 w 11102298"/>
              <a:gd name="connsiteY5" fmla="*/ 2958168 h 2958168"/>
              <a:gd name="connsiteX6" fmla="*/ 1563461 w 11102298"/>
              <a:gd name="connsiteY6" fmla="*/ 0 h 2958168"/>
              <a:gd name="connsiteX0" fmla="*/ 228723 w 9767560"/>
              <a:gd name="connsiteY0" fmla="*/ 0 h 2958168"/>
              <a:gd name="connsiteX1" fmla="*/ 9766804 w 9767560"/>
              <a:gd name="connsiteY1" fmla="*/ 0 h 2958168"/>
              <a:gd name="connsiteX2" fmla="*/ 9766306 w 9767560"/>
              <a:gd name="connsiteY2" fmla="*/ 1476338 h 2958168"/>
              <a:gd name="connsiteX3" fmla="*/ 8493743 w 9767560"/>
              <a:gd name="connsiteY3" fmla="*/ 2153103 h 2958168"/>
              <a:gd name="connsiteX4" fmla="*/ 1522707 w 9767560"/>
              <a:gd name="connsiteY4" fmla="*/ 2159512 h 2958168"/>
              <a:gd name="connsiteX5" fmla="*/ 386038 w 9767560"/>
              <a:gd name="connsiteY5" fmla="*/ 2958168 h 2958168"/>
              <a:gd name="connsiteX6" fmla="*/ 228723 w 9767560"/>
              <a:gd name="connsiteY6" fmla="*/ 0 h 2958168"/>
              <a:gd name="connsiteX0" fmla="*/ 0 w 9538837"/>
              <a:gd name="connsiteY0" fmla="*/ 0 h 2958168"/>
              <a:gd name="connsiteX1" fmla="*/ 9538081 w 9538837"/>
              <a:gd name="connsiteY1" fmla="*/ 0 h 2958168"/>
              <a:gd name="connsiteX2" fmla="*/ 9537583 w 9538837"/>
              <a:gd name="connsiteY2" fmla="*/ 1476338 h 2958168"/>
              <a:gd name="connsiteX3" fmla="*/ 8265020 w 9538837"/>
              <a:gd name="connsiteY3" fmla="*/ 2153103 h 2958168"/>
              <a:gd name="connsiteX4" fmla="*/ 1293984 w 9538837"/>
              <a:gd name="connsiteY4" fmla="*/ 2159512 h 2958168"/>
              <a:gd name="connsiteX5" fmla="*/ 157315 w 9538837"/>
              <a:gd name="connsiteY5" fmla="*/ 2958168 h 2958168"/>
              <a:gd name="connsiteX6" fmla="*/ 0 w 9538837"/>
              <a:gd name="connsiteY6" fmla="*/ 0 h 2958168"/>
              <a:gd name="connsiteX0" fmla="*/ 0 w 9387494"/>
              <a:gd name="connsiteY0" fmla="*/ 0 h 2958168"/>
              <a:gd name="connsiteX1" fmla="*/ 9386738 w 9387494"/>
              <a:gd name="connsiteY1" fmla="*/ 0 h 2958168"/>
              <a:gd name="connsiteX2" fmla="*/ 9386240 w 9387494"/>
              <a:gd name="connsiteY2" fmla="*/ 1476338 h 2958168"/>
              <a:gd name="connsiteX3" fmla="*/ 8113677 w 9387494"/>
              <a:gd name="connsiteY3" fmla="*/ 2153103 h 2958168"/>
              <a:gd name="connsiteX4" fmla="*/ 1142641 w 9387494"/>
              <a:gd name="connsiteY4" fmla="*/ 2159512 h 2958168"/>
              <a:gd name="connsiteX5" fmla="*/ 5972 w 9387494"/>
              <a:gd name="connsiteY5" fmla="*/ 2958168 h 2958168"/>
              <a:gd name="connsiteX6" fmla="*/ 0 w 9387494"/>
              <a:gd name="connsiteY6" fmla="*/ 0 h 2958168"/>
              <a:gd name="connsiteX0" fmla="*/ 150434 w 9387493"/>
              <a:gd name="connsiteY0" fmla="*/ 121627 h 2958168"/>
              <a:gd name="connsiteX1" fmla="*/ 9386737 w 9387493"/>
              <a:gd name="connsiteY1" fmla="*/ 0 h 2958168"/>
              <a:gd name="connsiteX2" fmla="*/ 9386239 w 9387493"/>
              <a:gd name="connsiteY2" fmla="*/ 1476338 h 2958168"/>
              <a:gd name="connsiteX3" fmla="*/ 8113676 w 9387493"/>
              <a:gd name="connsiteY3" fmla="*/ 2153103 h 2958168"/>
              <a:gd name="connsiteX4" fmla="*/ 1142640 w 9387493"/>
              <a:gd name="connsiteY4" fmla="*/ 2159512 h 2958168"/>
              <a:gd name="connsiteX5" fmla="*/ 5971 w 9387493"/>
              <a:gd name="connsiteY5" fmla="*/ 2958168 h 2958168"/>
              <a:gd name="connsiteX6" fmla="*/ 150434 w 9387493"/>
              <a:gd name="connsiteY6" fmla="*/ 121627 h 2958168"/>
              <a:gd name="connsiteX0" fmla="*/ 0 w 9387494"/>
              <a:gd name="connsiteY0" fmla="*/ 0 h 2958168"/>
              <a:gd name="connsiteX1" fmla="*/ 9386738 w 9387494"/>
              <a:gd name="connsiteY1" fmla="*/ 0 h 2958168"/>
              <a:gd name="connsiteX2" fmla="*/ 9386240 w 9387494"/>
              <a:gd name="connsiteY2" fmla="*/ 1476338 h 2958168"/>
              <a:gd name="connsiteX3" fmla="*/ 8113677 w 9387494"/>
              <a:gd name="connsiteY3" fmla="*/ 2153103 h 2958168"/>
              <a:gd name="connsiteX4" fmla="*/ 1142641 w 9387494"/>
              <a:gd name="connsiteY4" fmla="*/ 2159512 h 2958168"/>
              <a:gd name="connsiteX5" fmla="*/ 5972 w 9387494"/>
              <a:gd name="connsiteY5" fmla="*/ 2958168 h 2958168"/>
              <a:gd name="connsiteX6" fmla="*/ 0 w 9387494"/>
              <a:gd name="connsiteY6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87494" h="2958168">
                <a:moveTo>
                  <a:pt x="0" y="0"/>
                </a:moveTo>
                <a:lnTo>
                  <a:pt x="9386738" y="0"/>
                </a:lnTo>
                <a:cubicBezTo>
                  <a:pt x="9387251" y="67600"/>
                  <a:pt x="9387494" y="1432923"/>
                  <a:pt x="9386240" y="1476338"/>
                </a:cubicBezTo>
                <a:cubicBezTo>
                  <a:pt x="8908844" y="2148347"/>
                  <a:pt x="8530263" y="2158423"/>
                  <a:pt x="8113677" y="2153103"/>
                </a:cubicBezTo>
                <a:lnTo>
                  <a:pt x="1142641" y="2159512"/>
                </a:lnTo>
                <a:cubicBezTo>
                  <a:pt x="565427" y="2192654"/>
                  <a:pt x="197581" y="2495346"/>
                  <a:pt x="5972" y="2958168"/>
                </a:cubicBezTo>
                <a:cubicBezTo>
                  <a:pt x="1" y="2922215"/>
                  <a:pt x="8626" y="1754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286594" y="476590"/>
            <a:ext cx="4857684" cy="938900"/>
          </a:xfrm>
        </p:spPr>
        <p:txBody>
          <a:bodyPr>
            <a:noAutofit/>
          </a:bodyPr>
          <a:lstStyle>
            <a:lvl1pPr algn="l">
              <a:defRPr sz="3200" b="0">
                <a:solidFill>
                  <a:srgbClr val="0C71B6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286593" y="1625440"/>
            <a:ext cx="4857685" cy="28803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F26829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pic>
        <p:nvPicPr>
          <p:cNvPr id="18" name="Picture 6" descr="http://www.legal-online.be/websites/39/uploads/image/logo%20Time%20Lex(1).jpg"/>
          <p:cNvPicPr>
            <a:picLocks noChangeAspect="1" noChangeArrowheads="1"/>
          </p:cNvPicPr>
          <p:nvPr userDrawn="1"/>
        </p:nvPicPr>
        <p:blipFill>
          <a:blip r:embed="rId9"/>
          <a:srcRect b="10550"/>
          <a:stretch>
            <a:fillRect/>
          </a:stretch>
        </p:blipFill>
        <p:spPr bwMode="auto">
          <a:xfrm>
            <a:off x="4485298" y="6511747"/>
            <a:ext cx="326696" cy="293202"/>
          </a:xfrm>
          <a:prstGeom prst="rect">
            <a:avLst/>
          </a:prstGeom>
          <a:noFill/>
        </p:spPr>
      </p:pic>
      <p:pic>
        <p:nvPicPr>
          <p:cNvPr id="19" name="Picture 8" descr="http://www.sogeti.de/fileadmin/user_upload/Sogeti_cmyk.jpg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5118941" y="6556991"/>
            <a:ext cx="920966" cy="202714"/>
          </a:xfrm>
          <a:prstGeom prst="rect">
            <a:avLst/>
          </a:prstGeom>
          <a:noFill/>
        </p:spPr>
      </p:pic>
      <p:pic>
        <p:nvPicPr>
          <p:cNvPr id="20" name="Picture 10" descr="http://upload.wikimedia.org/wikipedia/commons/thumb/a/a7/University_of_Southampton_Logo.svg/2000px-University_of_Southampton_Logo.svg.png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6346854" y="6562600"/>
            <a:ext cx="866502" cy="191497"/>
          </a:xfrm>
          <a:prstGeom prst="rect">
            <a:avLst/>
          </a:prstGeom>
          <a:noFill/>
        </p:spPr>
      </p:pic>
      <p:pic>
        <p:nvPicPr>
          <p:cNvPr id="22" name="Picture 14" descr="http://se-mashup.fokus.fraunhofer.de:8080/feature-event-clean/samples/ad-insertion/images/fokus.png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8709984" y="6487793"/>
            <a:ext cx="851656" cy="341111"/>
          </a:xfrm>
          <a:prstGeom prst="rect">
            <a:avLst/>
          </a:prstGeom>
          <a:noFill/>
        </p:spPr>
      </p:pic>
      <p:pic>
        <p:nvPicPr>
          <p:cNvPr id="1039" name="Picture 15" descr="D:\Pallavi\PSN\shutterstock\Transparent CC-Logo.png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488380" y="6576898"/>
            <a:ext cx="1629345" cy="162900"/>
          </a:xfrm>
          <a:prstGeom prst="rect">
            <a:avLst/>
          </a:prstGeom>
          <a:noFill/>
        </p:spPr>
      </p:pic>
      <p:pic>
        <p:nvPicPr>
          <p:cNvPr id="1041" name="Picture 17" descr="http://summit.theodi.org/wp-content/uploads/2014/05/Slice-12.png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2424672" y="6547683"/>
            <a:ext cx="723488" cy="221330"/>
          </a:xfrm>
          <a:prstGeom prst="rect">
            <a:avLst/>
          </a:prstGeom>
          <a:noFill/>
        </p:spPr>
      </p:pic>
      <p:pic>
        <p:nvPicPr>
          <p:cNvPr id="1043" name="Picture 19" descr="http://www.intrasoft-intl.dk/images/logo.png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3455107" y="6547118"/>
            <a:ext cx="723244" cy="222460"/>
          </a:xfrm>
          <a:prstGeom prst="rect">
            <a:avLst/>
          </a:prstGeom>
          <a:noFill/>
        </p:spPr>
      </p:pic>
      <p:pic>
        <p:nvPicPr>
          <p:cNvPr id="1045" name="Picture 21" descr="http://inspire.ec.europa.eu/events/conferences/inspire_2014/images/contera.png"/>
          <p:cNvPicPr>
            <a:picLocks noChangeAspect="1" noChangeArrowheads="1"/>
          </p:cNvPicPr>
          <p:nvPr userDrawn="1"/>
        </p:nvPicPr>
        <p:blipFill>
          <a:blip r:embed="rId16"/>
          <a:srcRect t="11559" b="54092"/>
          <a:stretch>
            <a:fillRect/>
          </a:stretch>
        </p:blipFill>
        <p:spPr bwMode="auto">
          <a:xfrm>
            <a:off x="7520303" y="6551986"/>
            <a:ext cx="882734" cy="212725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321190" y="99859"/>
            <a:ext cx="3555297" cy="131286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0838" y="0"/>
            <a:ext cx="7050502" cy="895580"/>
          </a:xfr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GB" sz="2000" kern="1200" dirty="0">
                <a:solidFill>
                  <a:srgbClr val="0C71B6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9489630" y="6711950"/>
            <a:ext cx="327570" cy="117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50836" y="1792974"/>
            <a:ext cx="9210677" cy="4660214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1pPr>
            <a:lvl2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2pPr>
            <a:lvl3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3pPr>
            <a:lvl4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4pPr>
            <a:lvl5pPr>
              <a:buFontTx/>
              <a:buBlip>
                <a:blip r:embed="rId2"/>
              </a:buBlip>
              <a:defRPr/>
            </a:lvl5pPr>
          </a:lstStyle>
          <a:p>
            <a:r>
              <a:rPr lang="nl-NL" dirty="0" err="1" smtClean="0"/>
              <a:t>Text</a:t>
            </a:r>
            <a:endParaRPr lang="nl-NL" dirty="0" smtClean="0"/>
          </a:p>
          <a:p>
            <a:pPr lvl="1"/>
            <a:r>
              <a:rPr lang="nl-NL" dirty="0" err="1" smtClean="0"/>
              <a:t>Text</a:t>
            </a:r>
            <a:endParaRPr lang="nl-NL" dirty="0" smtClean="0"/>
          </a:p>
          <a:p>
            <a:pPr lvl="2"/>
            <a:r>
              <a:rPr lang="nl-NL" dirty="0" err="1" smtClean="0"/>
              <a:t>Text</a:t>
            </a:r>
            <a:endParaRPr lang="nl-NL" dirty="0" smtClean="0"/>
          </a:p>
          <a:p>
            <a:pPr lvl="3"/>
            <a:r>
              <a:rPr lang="nl-NL" dirty="0" err="1" smtClean="0"/>
              <a:t>Text</a:t>
            </a:r>
            <a:r>
              <a:rPr lang="nl-NL" dirty="0" smtClean="0"/>
              <a:t>	</a:t>
            </a:r>
          </a:p>
          <a:p>
            <a:endParaRPr lang="nl-NL" dirty="0"/>
          </a:p>
        </p:txBody>
      </p:sp>
      <p:sp>
        <p:nvSpPr>
          <p:cNvPr id="15" name="Date Placeholder 7"/>
          <p:cNvSpPr>
            <a:spLocks noGrp="1"/>
          </p:cNvSpPr>
          <p:nvPr>
            <p:ph type="dt" sz="half" idx="17"/>
          </p:nvPr>
        </p:nvSpPr>
        <p:spPr>
          <a:xfrm>
            <a:off x="-15690" y="6535281"/>
            <a:ext cx="936130" cy="201600"/>
          </a:xfrm>
        </p:spPr>
        <p:txBody>
          <a:bodyPr/>
          <a:lstStyle>
            <a:lvl1pPr>
              <a:defRPr sz="600">
                <a:solidFill>
                  <a:srgbClr val="F9A01B"/>
                </a:solidFill>
              </a:defRPr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7524" y="3490621"/>
            <a:ext cx="1257300" cy="126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/>
          <p:cNvSpPr/>
          <p:nvPr userDrawn="1"/>
        </p:nvSpPr>
        <p:spPr bwMode="auto">
          <a:xfrm>
            <a:off x="3872850" y="3212970"/>
            <a:ext cx="2016280" cy="180025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Aft>
                <a:spcPts val="300"/>
              </a:spcAft>
            </a:pPr>
            <a:endParaRPr lang="nl-NL" sz="1400" dirty="0" smtClean="0">
              <a:solidFill>
                <a:schemeClr val="tx1">
                  <a:lumMod val="85000"/>
                  <a:lumOff val="15000"/>
                </a:schemeClr>
              </a:solidFill>
              <a:cs typeface="+mn-cs"/>
            </a:endParaRPr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350839" y="1123950"/>
            <a:ext cx="9210674" cy="433388"/>
          </a:xfrm>
        </p:spPr>
        <p:txBody>
          <a:bodyPr/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600" i="1" kern="1200" dirty="0" smtClean="0">
                <a:solidFill>
                  <a:srgbClr val="F26829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 dirty="0" smtClean="0"/>
              <a:t>Click to add subtitle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1340" y="33569"/>
            <a:ext cx="2454388" cy="906330"/>
          </a:xfrm>
          <a:prstGeom prst="rect">
            <a:avLst/>
          </a:prstGeom>
        </p:spPr>
      </p:pic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481" y="6556168"/>
            <a:ext cx="1518593" cy="193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 descr="http://semanticweb.com/files/2013/09/ODI.png"/>
          <p:cNvPicPr>
            <a:picLocks noChangeAspect="1" noChangeArrowheads="1"/>
          </p:cNvPicPr>
          <p:nvPr userDrawn="1"/>
        </p:nvPicPr>
        <p:blipFill>
          <a:blip r:embed="rId6"/>
          <a:srcRect l="13980" t="31437" r="13900" b="36396"/>
          <a:stretch>
            <a:fillRect/>
          </a:stretch>
        </p:blipFill>
        <p:spPr bwMode="auto">
          <a:xfrm>
            <a:off x="2685721" y="6549818"/>
            <a:ext cx="658907" cy="193344"/>
          </a:xfrm>
          <a:prstGeom prst="rect">
            <a:avLst/>
          </a:prstGeom>
          <a:noFill/>
        </p:spPr>
      </p:pic>
      <p:pic>
        <p:nvPicPr>
          <p:cNvPr id="22" name="Picture 4" descr="http://www.intrasoft-intl.dk/images/logo.png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3656975" y="6542057"/>
            <a:ext cx="648089" cy="199343"/>
          </a:xfrm>
          <a:prstGeom prst="rect">
            <a:avLst/>
          </a:prstGeom>
          <a:noFill/>
        </p:spPr>
      </p:pic>
      <p:pic>
        <p:nvPicPr>
          <p:cNvPr id="23" name="Picture 6" descr="http://www.legal-online.be/websites/39/uploads/image/logo%20Time%20Lex(1).jpg"/>
          <p:cNvPicPr>
            <a:picLocks noChangeAspect="1" noChangeArrowheads="1"/>
          </p:cNvPicPr>
          <p:nvPr userDrawn="1"/>
        </p:nvPicPr>
        <p:blipFill>
          <a:blip r:embed="rId8"/>
          <a:srcRect b="10550"/>
          <a:stretch>
            <a:fillRect/>
          </a:stretch>
        </p:blipFill>
        <p:spPr bwMode="auto">
          <a:xfrm>
            <a:off x="4611061" y="6545557"/>
            <a:ext cx="235540" cy="211393"/>
          </a:xfrm>
          <a:prstGeom prst="rect">
            <a:avLst/>
          </a:prstGeom>
          <a:noFill/>
        </p:spPr>
      </p:pic>
      <p:pic>
        <p:nvPicPr>
          <p:cNvPr id="24" name="Picture 8" descr="http://www.sogeti.de/fileadmin/user_upload/Sogeti_cmyk.jp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154979" y="6544412"/>
            <a:ext cx="840970" cy="185106"/>
          </a:xfrm>
          <a:prstGeom prst="rect">
            <a:avLst/>
          </a:prstGeom>
          <a:noFill/>
        </p:spPr>
      </p:pic>
      <p:pic>
        <p:nvPicPr>
          <p:cNvPr id="25" name="Picture 10" descr="http://upload.wikimedia.org/wikipedia/commons/thumb/a/a7/University_of_Southampton_Logo.svg/2000px-University_of_Southampton_Logo.svg.png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6294803" y="6569792"/>
            <a:ext cx="866502" cy="191497"/>
          </a:xfrm>
          <a:prstGeom prst="rect">
            <a:avLst/>
          </a:prstGeom>
          <a:noFill/>
        </p:spPr>
      </p:pic>
      <p:pic>
        <p:nvPicPr>
          <p:cNvPr id="26" name="Picture 12" descr="http://inspire.ec.europa.eu/events/conferences/inspire_2011/logos/conterra_Logo_RGB_300_3,5cm.jpg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7467302" y="6585792"/>
            <a:ext cx="948594" cy="130920"/>
          </a:xfrm>
          <a:prstGeom prst="rect">
            <a:avLst/>
          </a:prstGeom>
          <a:noFill/>
        </p:spPr>
      </p:pic>
      <p:pic>
        <p:nvPicPr>
          <p:cNvPr id="27" name="Picture 14" descr="http://se-mashup.fokus.fraunhofer.de:8080/feature-event-clean/samples/ad-insertion/images/fokus.png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8709984" y="6481533"/>
            <a:ext cx="851656" cy="341111"/>
          </a:xfrm>
          <a:prstGeom prst="rect">
            <a:avLst/>
          </a:prstGeom>
          <a:noFill/>
        </p:spPr>
      </p:pic>
      <p:cxnSp>
        <p:nvCxnSpPr>
          <p:cNvPr id="28" name="Straight Connector 27"/>
          <p:cNvCxnSpPr/>
          <p:nvPr userDrawn="1"/>
        </p:nvCxnSpPr>
        <p:spPr>
          <a:xfrm>
            <a:off x="350838" y="895580"/>
            <a:ext cx="7050502" cy="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long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9489630" y="6711950"/>
            <a:ext cx="327570" cy="117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5"/>
          </p:nvPr>
        </p:nvSpPr>
        <p:spPr>
          <a:xfrm>
            <a:off x="2073275" y="1844700"/>
            <a:ext cx="7488238" cy="4464700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buFont typeface="Arial Unicode MS" pitchFamily="34" charset="-128"/>
              <a:buChar char="▶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2"/>
              </a:buCl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123950"/>
            <a:ext cx="8923337" cy="4333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800" i="1" kern="1200" dirty="0" smtClean="0">
                <a:solidFill>
                  <a:srgbClr val="FF66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page with sub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GB" sz="2000" kern="1200" dirty="0">
                <a:solidFill>
                  <a:srgbClr val="0C71B6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350836" y="1792974"/>
            <a:ext cx="9210677" cy="4660214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1pPr>
            <a:lvl2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2pPr>
            <a:lvl3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3pPr>
            <a:lvl4pPr>
              <a:buFontTx/>
              <a:buBlip>
                <a:blip r:embed="rId2"/>
              </a:buBlip>
              <a:defRPr>
                <a:solidFill>
                  <a:srgbClr val="0C71B6"/>
                </a:solidFill>
              </a:defRPr>
            </a:lvl4pPr>
            <a:lvl5pPr>
              <a:buFontTx/>
              <a:buBlip>
                <a:blip r:embed="rId2"/>
              </a:buBlip>
              <a:defRPr/>
            </a:lvl5pPr>
          </a:lstStyle>
          <a:p>
            <a:r>
              <a:rPr lang="nl-NL" dirty="0" err="1" smtClean="0"/>
              <a:t>Text</a:t>
            </a:r>
            <a:endParaRPr lang="nl-NL" dirty="0" smtClean="0"/>
          </a:p>
          <a:p>
            <a:pPr lvl="1"/>
            <a:r>
              <a:rPr lang="nl-NL" dirty="0" err="1" smtClean="0"/>
              <a:t>Text</a:t>
            </a:r>
            <a:endParaRPr lang="nl-NL" dirty="0" smtClean="0"/>
          </a:p>
          <a:p>
            <a:pPr lvl="2"/>
            <a:r>
              <a:rPr lang="nl-NL" dirty="0" err="1" smtClean="0"/>
              <a:t>Text</a:t>
            </a:r>
            <a:endParaRPr lang="nl-NL" dirty="0" smtClean="0"/>
          </a:p>
          <a:p>
            <a:pPr lvl="3"/>
            <a:r>
              <a:rPr lang="nl-NL" dirty="0" err="1" smtClean="0"/>
              <a:t>Text</a:t>
            </a:r>
            <a:r>
              <a:rPr lang="nl-NL" dirty="0" smtClean="0"/>
              <a:t>	</a:t>
            </a:r>
          </a:p>
          <a:p>
            <a:endParaRPr lang="nl-NL" dirty="0"/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7"/>
          </p:nvPr>
        </p:nvSpPr>
        <p:spPr>
          <a:xfrm>
            <a:off x="-15690" y="6535281"/>
            <a:ext cx="936130" cy="201600"/>
          </a:xfrm>
        </p:spPr>
        <p:txBody>
          <a:bodyPr/>
          <a:lstStyle>
            <a:lvl1pPr>
              <a:defRPr sz="600">
                <a:solidFill>
                  <a:srgbClr val="F9A01B"/>
                </a:solidFill>
              </a:defRPr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7524" y="3490621"/>
            <a:ext cx="1257300" cy="126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 userDrawn="1"/>
        </p:nvSpPr>
        <p:spPr bwMode="auto">
          <a:xfrm>
            <a:off x="3872850" y="3212970"/>
            <a:ext cx="2016280" cy="180025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Aft>
                <a:spcPts val="300"/>
              </a:spcAft>
            </a:pPr>
            <a:endParaRPr lang="nl-NL" sz="1400" dirty="0" smtClean="0">
              <a:solidFill>
                <a:schemeClr val="tx1">
                  <a:lumMod val="85000"/>
                  <a:lumOff val="15000"/>
                </a:schemeClr>
              </a:solidFill>
              <a:cs typeface="+mn-cs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350839" y="1123950"/>
            <a:ext cx="9210674" cy="433388"/>
          </a:xfrm>
        </p:spPr>
        <p:txBody>
          <a:bodyPr/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600" i="1" kern="1200" dirty="0" smtClean="0">
                <a:solidFill>
                  <a:srgbClr val="F26829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 dirty="0" smtClean="0"/>
              <a:t>Click to add subtitle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489630" y="6711950"/>
            <a:ext cx="327570" cy="117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2"/>
          </p:nvPr>
        </p:nvSpPr>
        <p:spPr>
          <a:xfrm>
            <a:off x="-15690" y="6535281"/>
            <a:ext cx="936130" cy="201600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123950"/>
            <a:ext cx="8923337" cy="4333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800" i="1" kern="1200" dirty="0" smtClean="0">
                <a:solidFill>
                  <a:srgbClr val="FF66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lain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950" y="1794935"/>
            <a:ext cx="4953000" cy="7651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4592950" y="2663298"/>
            <a:ext cx="2712516" cy="2998012"/>
          </a:xfrm>
        </p:spPr>
        <p:txBody>
          <a:bodyPr/>
          <a:lstStyle>
            <a:lvl1pPr marL="182563" marR="0" indent="-1825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Tx/>
              <a:buBlip>
                <a:blip r:embed="rId2"/>
              </a:buBlip>
              <a:tabLst/>
              <a:defRPr lang="en-US" sz="1400" u="none" kern="1200" baseline="0" dirty="0" smtClean="0">
                <a:solidFill>
                  <a:schemeClr val="accent1">
                    <a:lumMod val="50000"/>
                  </a:schemeClr>
                </a:solidFill>
                <a:uFill>
                  <a:solidFill>
                    <a:schemeClr val="tx1">
                      <a:lumMod val="65000"/>
                      <a:lumOff val="35000"/>
                    </a:schemeClr>
                  </a:solidFill>
                </a:uFill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>
          <a:xfrm>
            <a:off x="9489630" y="6711950"/>
            <a:ext cx="327570" cy="117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3" name="Date Placeholder 7"/>
          <p:cNvSpPr>
            <a:spLocks noGrp="1"/>
          </p:cNvSpPr>
          <p:nvPr>
            <p:ph type="dt" sz="half" idx="12"/>
          </p:nvPr>
        </p:nvSpPr>
        <p:spPr>
          <a:xfrm>
            <a:off x="-15690" y="6535281"/>
            <a:ext cx="936130" cy="201600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  <p:pic>
        <p:nvPicPr>
          <p:cNvPr id="14" name="Picture 13" descr="Picture1.jpg"/>
          <p:cNvPicPr>
            <a:picLocks noChangeAspect="1"/>
          </p:cNvPicPr>
          <p:nvPr userDrawn="1"/>
        </p:nvPicPr>
        <p:blipFill>
          <a:blip r:embed="rId3"/>
          <a:srcRect t="142" b="399"/>
          <a:stretch>
            <a:fillRect/>
          </a:stretch>
        </p:blipFill>
        <p:spPr>
          <a:xfrm>
            <a:off x="-1" y="0"/>
            <a:ext cx="4010025" cy="6858000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11061" y="6288189"/>
            <a:ext cx="1518593" cy="193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 descr="http://semanticweb.com/files/2013/09/ODI.png"/>
          <p:cNvPicPr>
            <a:picLocks noChangeAspect="1" noChangeArrowheads="1"/>
          </p:cNvPicPr>
          <p:nvPr userDrawn="1"/>
        </p:nvPicPr>
        <p:blipFill>
          <a:blip r:embed="rId5"/>
          <a:srcRect l="13980" t="31437" r="13900" b="36396"/>
          <a:stretch>
            <a:fillRect/>
          </a:stretch>
        </p:blipFill>
        <p:spPr bwMode="auto">
          <a:xfrm>
            <a:off x="7156144" y="6281839"/>
            <a:ext cx="658907" cy="193344"/>
          </a:xfrm>
          <a:prstGeom prst="rect">
            <a:avLst/>
          </a:prstGeom>
          <a:noFill/>
        </p:spPr>
      </p:pic>
      <p:pic>
        <p:nvPicPr>
          <p:cNvPr id="12" name="Picture 4" descr="http://www.intrasoft-intl.dk/images/logo.png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841541" y="6274078"/>
            <a:ext cx="648089" cy="199343"/>
          </a:xfrm>
          <a:prstGeom prst="rect">
            <a:avLst/>
          </a:prstGeom>
          <a:noFill/>
        </p:spPr>
      </p:pic>
      <p:pic>
        <p:nvPicPr>
          <p:cNvPr id="15" name="Picture 6" descr="http://www.legal-online.be/websites/39/uploads/image/logo%20Time%20Lex(1).jpg"/>
          <p:cNvPicPr>
            <a:picLocks noChangeAspect="1" noChangeArrowheads="1"/>
          </p:cNvPicPr>
          <p:nvPr userDrawn="1"/>
        </p:nvPicPr>
        <p:blipFill>
          <a:blip r:embed="rId7"/>
          <a:srcRect b="10550"/>
          <a:stretch>
            <a:fillRect/>
          </a:stretch>
        </p:blipFill>
        <p:spPr bwMode="auto">
          <a:xfrm>
            <a:off x="4611061" y="6545557"/>
            <a:ext cx="235540" cy="211393"/>
          </a:xfrm>
          <a:prstGeom prst="rect">
            <a:avLst/>
          </a:prstGeom>
          <a:noFill/>
        </p:spPr>
      </p:pic>
      <p:pic>
        <p:nvPicPr>
          <p:cNvPr id="16" name="Picture 8" descr="http://www.sogeti.de/fileadmin/user_upload/Sogeti_cmyk.jpg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5154979" y="6544412"/>
            <a:ext cx="840970" cy="185106"/>
          </a:xfrm>
          <a:prstGeom prst="rect">
            <a:avLst/>
          </a:prstGeom>
          <a:noFill/>
        </p:spPr>
      </p:pic>
      <p:pic>
        <p:nvPicPr>
          <p:cNvPr id="17" name="Picture 10" descr="http://upload.wikimedia.org/wikipedia/commons/thumb/a/a7/University_of_Southampton_Logo.svg/2000px-University_of_Southampton_Logo.svg.pn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6294803" y="6569792"/>
            <a:ext cx="866502" cy="191497"/>
          </a:xfrm>
          <a:prstGeom prst="rect">
            <a:avLst/>
          </a:prstGeom>
          <a:noFill/>
        </p:spPr>
      </p:pic>
      <p:pic>
        <p:nvPicPr>
          <p:cNvPr id="18" name="Picture 12" descr="http://inspire.ec.europa.eu/events/conferences/inspire_2011/logos/conterra_Logo_RGB_300_3,5cm.jpg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7467302" y="6585792"/>
            <a:ext cx="948594" cy="130920"/>
          </a:xfrm>
          <a:prstGeom prst="rect">
            <a:avLst/>
          </a:prstGeom>
          <a:noFill/>
        </p:spPr>
      </p:pic>
      <p:pic>
        <p:nvPicPr>
          <p:cNvPr id="19" name="Picture 14" descr="http://se-mashup.fokus.fraunhofer.de:8080/feature-event-clean/samples/ad-insertion/images/fokus.png"/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8709984" y="6481533"/>
            <a:ext cx="851656" cy="341111"/>
          </a:xfrm>
          <a:prstGeom prst="rect">
            <a:avLst/>
          </a:prstGeom>
          <a:noFill/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350703" y="33569"/>
            <a:ext cx="3555297" cy="131286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50838" y="1384300"/>
            <a:ext cx="8736012" cy="458628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9489630" y="6711950"/>
            <a:ext cx="327570" cy="117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9CE626-3159-4274-8158-4292551456C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2"/>
          </p:nvPr>
        </p:nvSpPr>
        <p:spPr>
          <a:xfrm>
            <a:off x="-15690" y="6535281"/>
            <a:ext cx="936130" cy="201600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smtClean="0"/>
              <a:t>ODIP Project Copyright © 2015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899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jpeg"/><Relationship Id="rId10" Type="http://schemas.openxmlformats.org/officeDocument/2006/relationships/tags" Target="../tags/tag3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50838" y="0"/>
            <a:ext cx="7050502" cy="89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enter text – Header should be Calibri 20, no more than 2 lines </a:t>
            </a:r>
            <a:endParaRPr lang="en-GB" dirty="0" smtClean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50838" y="1916113"/>
            <a:ext cx="9210675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nl-NL" dirty="0" err="1" smtClean="0"/>
              <a:t>Text</a:t>
            </a:r>
            <a:endParaRPr lang="nl-NL" dirty="0" smtClean="0"/>
          </a:p>
          <a:p>
            <a:pPr lvl="1"/>
            <a:r>
              <a:rPr lang="nl-NL" dirty="0" err="1" smtClean="0"/>
              <a:t>Text</a:t>
            </a:r>
            <a:endParaRPr lang="nl-NL" dirty="0" smtClean="0"/>
          </a:p>
          <a:p>
            <a:pPr lvl="2"/>
            <a:r>
              <a:rPr lang="nl-NL" dirty="0" err="1" smtClean="0"/>
              <a:t>Text</a:t>
            </a:r>
            <a:endParaRPr lang="nl-NL" dirty="0" smtClean="0"/>
          </a:p>
          <a:p>
            <a:pPr lvl="3"/>
            <a:r>
              <a:rPr lang="nl-NL" dirty="0" err="1" smtClean="0"/>
              <a:t>Text</a:t>
            </a:r>
            <a:r>
              <a:rPr lang="nl-NL" dirty="0" smtClean="0"/>
              <a:t>	</a:t>
            </a:r>
          </a:p>
          <a:p>
            <a:endParaRPr lang="nl-NL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67481" y="6556168"/>
            <a:ext cx="1518593" cy="193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-15690" y="6535281"/>
            <a:ext cx="936130" cy="20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lang="de-CH" sz="700" kern="120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ODIP Project</a:t>
            </a:r>
            <a:endParaRPr lang="de-DE" smtClean="0"/>
          </a:p>
          <a:p>
            <a:pPr>
              <a:defRPr/>
            </a:pPr>
            <a:r>
              <a:rPr lang="de-DE" smtClean="0"/>
              <a:t>Copyright © 2015</a:t>
            </a:r>
          </a:p>
          <a:p>
            <a:pPr>
              <a:defRPr/>
            </a:pPr>
            <a:r>
              <a:rPr lang="de-DE" smtClean="0"/>
              <a:t>All rights reserved.</a:t>
            </a:r>
            <a:endParaRPr lang="en-US" dirty="0"/>
          </a:p>
        </p:txBody>
      </p:sp>
      <p:grpSp>
        <p:nvGrpSpPr>
          <p:cNvPr id="15" name="Group_Sticker" hidden="1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8999666" y="1036910"/>
            <a:ext cx="561974" cy="247650"/>
            <a:chOff x="5328" y="618"/>
            <a:chExt cx="354" cy="156"/>
          </a:xfrm>
        </p:grpSpPr>
        <p:sp>
          <p:nvSpPr>
            <p:cNvPr id="19" name="Rectangle 109"/>
            <p:cNvSpPr>
              <a:spLocks noChangeArrowheads="1"/>
            </p:cNvSpPr>
            <p:nvPr/>
          </p:nvSpPr>
          <p:spPr bwMode="auto">
            <a:xfrm>
              <a:off x="5328" y="618"/>
              <a:ext cx="35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46038" rIns="0" bIns="46038" anchor="ctr">
              <a:spAutoFit/>
            </a:bodyPr>
            <a:lstStyle/>
            <a:p>
              <a:pPr algn="ctr" eaLnBrk="0" hangingPunct="0">
                <a:lnSpc>
                  <a:spcPct val="100000"/>
                </a:lnSpc>
                <a:tabLst>
                  <a:tab pos="6400800" algn="r"/>
                  <a:tab pos="8636000" algn="r"/>
                </a:tabLst>
              </a:pPr>
              <a:r>
                <a:rPr lang="en-GB" sz="1000" b="1" dirty="0" smtClean="0"/>
                <a:t>STICKER</a:t>
              </a:r>
              <a:endParaRPr lang="en-GB" sz="1000" b="1" dirty="0"/>
            </a:p>
          </p:txBody>
        </p:sp>
        <p:sp>
          <p:nvSpPr>
            <p:cNvPr id="20" name="Line 110"/>
            <p:cNvSpPr>
              <a:spLocks noChangeShapeType="1"/>
            </p:cNvSpPr>
            <p:nvPr/>
          </p:nvSpPr>
          <p:spPr bwMode="auto">
            <a:xfrm>
              <a:off x="5328" y="623"/>
              <a:ext cx="3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21" name="Line 111"/>
            <p:cNvSpPr>
              <a:spLocks noChangeShapeType="1"/>
            </p:cNvSpPr>
            <p:nvPr/>
          </p:nvSpPr>
          <p:spPr bwMode="auto">
            <a:xfrm>
              <a:off x="5328" y="767"/>
              <a:ext cx="3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16" name="FootnoteAndSource" hidden="1"/>
          <p:cNvSpPr txBox="1"/>
          <p:nvPr>
            <p:custDataLst>
              <p:tags r:id="rId10"/>
            </p:custDataLst>
          </p:nvPr>
        </p:nvSpPr>
        <p:spPr>
          <a:xfrm>
            <a:off x="406842" y="6207003"/>
            <a:ext cx="956475" cy="174407"/>
          </a:xfrm>
          <a:prstGeom prst="rect">
            <a:avLst/>
          </a:prstGeom>
          <a:noFill/>
        </p:spPr>
        <p:txBody>
          <a:bodyPr vert="horz" wrap="none" lIns="0" tIns="25400" rIns="0" bIns="25400" rtlCol="0">
            <a:spAutoFit/>
          </a:bodyPr>
          <a:lstStyle/>
          <a:p>
            <a:pPr marL="429768" marR="0" lvl="0" indent="-42976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>
                <a:tab pos="347472" algn="r"/>
              </a:tabLst>
              <a:defRPr/>
            </a:pPr>
            <a:r>
              <a:rPr lang="de-DE" sz="800" dirty="0" smtClean="0"/>
              <a:t>Footnote</a:t>
            </a:r>
            <a:r>
              <a:rPr lang="de-DE" sz="800" baseline="0" dirty="0" smtClean="0"/>
              <a:t>AndSource</a:t>
            </a:r>
            <a:endParaRPr lang="de-DE" sz="800" dirty="0" smtClean="0"/>
          </a:p>
        </p:txBody>
      </p:sp>
      <p:sp>
        <p:nvSpPr>
          <p:cNvPr id="17" name="CapgeminiBox" hidden="1"/>
          <p:cNvSpPr>
            <a:spLocks noGrp="1" noChangeArrowheads="1"/>
          </p:cNvSpPr>
          <p:nvPr/>
        </p:nvSpPr>
        <p:spPr bwMode="auto">
          <a:xfrm>
            <a:off x="-1905047" y="20250"/>
            <a:ext cx="19050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algn="l" rtl="0" eaLnBrk="1" fontAlgn="base" hangingPunct="1">
              <a:spcBef>
                <a:spcPts val="0"/>
              </a:spcBef>
              <a:spcAft>
                <a:spcPct val="0"/>
              </a:spcAft>
              <a:defRPr sz="1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4625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Font typeface="Wingdings" pitchFamily="2" charset="2"/>
              <a:buChar char="§"/>
              <a:defRPr sz="1200" baseline="0">
                <a:solidFill>
                  <a:schemeClr val="tx1"/>
                </a:solidFill>
                <a:latin typeface="+mn-lt"/>
              </a:defRPr>
            </a:lvl2pPr>
            <a:lvl3pPr marL="357188" indent="-17621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Char char="-"/>
              <a:defRPr sz="1200">
                <a:solidFill>
                  <a:schemeClr val="tx1"/>
                </a:solidFill>
                <a:latin typeface="+mn-lt"/>
              </a:defRPr>
            </a:lvl3pPr>
            <a:lvl4pPr marL="538163" indent="-18256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4pPr>
            <a:lvl5pPr marL="719138" indent="-180975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5pPr>
            <a:lvl6pPr marL="895350" indent="-17621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6pPr>
            <a:lvl7pPr marL="1076325" indent="-180975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har char="-"/>
              <a:defRPr sz="1200" baseline="0">
                <a:solidFill>
                  <a:schemeClr val="tx1"/>
                </a:solidFill>
                <a:latin typeface="+mn-lt"/>
              </a:defRPr>
            </a:lvl7pPr>
            <a:lvl8pPr marL="1257300" indent="-180975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8pPr>
            <a:lvl9pPr marL="1433513" indent="-17621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Capgemini Consulting</a:t>
            </a:r>
            <a:r>
              <a:rPr lang="en-GB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v7.6</a:t>
            </a:r>
          </a:p>
        </p:txBody>
      </p:sp>
      <p:pic>
        <p:nvPicPr>
          <p:cNvPr id="2050" name="Picture 2" descr="http://semanticweb.com/files/2013/09/ODI.png"/>
          <p:cNvPicPr>
            <a:picLocks noChangeAspect="1" noChangeArrowheads="1"/>
          </p:cNvPicPr>
          <p:nvPr/>
        </p:nvPicPr>
        <p:blipFill>
          <a:blip r:embed="rId12"/>
          <a:srcRect l="13980" t="31437" r="13900" b="36396"/>
          <a:stretch>
            <a:fillRect/>
          </a:stretch>
        </p:blipFill>
        <p:spPr bwMode="auto">
          <a:xfrm>
            <a:off x="2685721" y="6549818"/>
            <a:ext cx="658907" cy="193344"/>
          </a:xfrm>
          <a:prstGeom prst="rect">
            <a:avLst/>
          </a:prstGeom>
          <a:noFill/>
        </p:spPr>
      </p:pic>
      <p:pic>
        <p:nvPicPr>
          <p:cNvPr id="2052" name="Picture 4" descr="http://www.intrasoft-intl.dk/images/logo.png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656975" y="6542057"/>
            <a:ext cx="648089" cy="199343"/>
          </a:xfrm>
          <a:prstGeom prst="rect">
            <a:avLst/>
          </a:prstGeom>
          <a:noFill/>
        </p:spPr>
      </p:pic>
      <p:pic>
        <p:nvPicPr>
          <p:cNvPr id="2054" name="Picture 6" descr="http://www.legal-online.be/websites/39/uploads/image/logo%20Time%20Lex(1).jpg"/>
          <p:cNvPicPr>
            <a:picLocks noChangeAspect="1" noChangeArrowheads="1"/>
          </p:cNvPicPr>
          <p:nvPr/>
        </p:nvPicPr>
        <p:blipFill>
          <a:blip r:embed="rId14"/>
          <a:srcRect b="10550"/>
          <a:stretch>
            <a:fillRect/>
          </a:stretch>
        </p:blipFill>
        <p:spPr bwMode="auto">
          <a:xfrm>
            <a:off x="4611061" y="6545557"/>
            <a:ext cx="235540" cy="211393"/>
          </a:xfrm>
          <a:prstGeom prst="rect">
            <a:avLst/>
          </a:prstGeom>
          <a:noFill/>
        </p:spPr>
      </p:pic>
      <p:pic>
        <p:nvPicPr>
          <p:cNvPr id="2056" name="Picture 8" descr="http://www.sogeti.de/fileadmin/user_upload/Sogeti_cmyk.jpg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5154979" y="6544412"/>
            <a:ext cx="840970" cy="185106"/>
          </a:xfrm>
          <a:prstGeom prst="rect">
            <a:avLst/>
          </a:prstGeom>
          <a:noFill/>
        </p:spPr>
      </p:pic>
      <p:pic>
        <p:nvPicPr>
          <p:cNvPr id="2058" name="Picture 10" descr="http://upload.wikimedia.org/wikipedia/commons/thumb/a/a7/University_of_Southampton_Logo.svg/2000px-University_of_Southampton_Logo.svg.png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6294803" y="6569792"/>
            <a:ext cx="866502" cy="191497"/>
          </a:xfrm>
          <a:prstGeom prst="rect">
            <a:avLst/>
          </a:prstGeom>
          <a:noFill/>
        </p:spPr>
      </p:pic>
      <p:pic>
        <p:nvPicPr>
          <p:cNvPr id="2060" name="Picture 12" descr="http://inspire.ec.europa.eu/events/conferences/inspire_2011/logos/conterra_Logo_RGB_300_3,5cm.jpg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7467302" y="6585792"/>
            <a:ext cx="948594" cy="130920"/>
          </a:xfrm>
          <a:prstGeom prst="rect">
            <a:avLst/>
          </a:prstGeom>
          <a:noFill/>
        </p:spPr>
      </p:pic>
      <p:pic>
        <p:nvPicPr>
          <p:cNvPr id="2062" name="Picture 14" descr="http://se-mashup.fokus.fraunhofer.de:8080/feature-event-clean/samples/ad-insertion/images/fokus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8709984" y="6481533"/>
            <a:ext cx="851656" cy="341111"/>
          </a:xfrm>
          <a:prstGeom prst="rect">
            <a:avLst/>
          </a:prstGeom>
          <a:noFill/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01340" y="33569"/>
            <a:ext cx="2454388" cy="906330"/>
          </a:xfrm>
          <a:prstGeom prst="rect">
            <a:avLst/>
          </a:prstGeom>
        </p:spPr>
      </p:pic>
      <p:sp>
        <p:nvSpPr>
          <p:cNvPr id="30" name="Text Placeholder 10"/>
          <p:cNvSpPr txBox="1">
            <a:spLocks/>
          </p:cNvSpPr>
          <p:nvPr/>
        </p:nvSpPr>
        <p:spPr>
          <a:xfrm>
            <a:off x="350838" y="1123950"/>
            <a:ext cx="8923337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800" i="1" kern="1200" dirty="0" smtClean="0">
                <a:solidFill>
                  <a:srgbClr val="FF6600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350838" y="895580"/>
            <a:ext cx="7050502" cy="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907" r:id="rId3"/>
    <p:sldLayoutId id="2147483892" r:id="rId4"/>
    <p:sldLayoutId id="2147483899" r:id="rId5"/>
    <p:sldLayoutId id="2147483906" r:id="rId6"/>
    <p:sldLayoutId id="2147483908" r:id="rId7"/>
  </p:sldLayoutIdLst>
  <p:transition spd="med">
    <p:fade/>
  </p:transition>
  <p:timing>
    <p:tnLst>
      <p:par>
        <p:cTn id="1" dur="indefinite" restart="never" nodeType="tmRoot"/>
      </p:par>
    </p:tnLst>
  </p:timing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kern="1200">
          <a:solidFill>
            <a:srgbClr val="0C71B6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Calibri" pitchFamily="34" charset="0"/>
          <a:cs typeface="Calibri" pitchFamily="34" charset="0"/>
        </a:defRPr>
      </a:lvl9pPr>
    </p:titleStyle>
    <p:bodyStyle>
      <a:lvl1pPr marL="182563" indent="-182563" algn="l" rtl="0" eaLnBrk="1" fontAlgn="base" hangingPunct="1">
        <a:lnSpc>
          <a:spcPct val="90000"/>
        </a:lnSpc>
        <a:spcBef>
          <a:spcPts val="0"/>
        </a:spcBef>
        <a:spcAft>
          <a:spcPts val="400"/>
        </a:spcAft>
        <a:buClr>
          <a:schemeClr val="accent2"/>
        </a:buClr>
        <a:buSzPct val="100000"/>
        <a:buFontTx/>
        <a:buBlip>
          <a:blip r:embed="rId20"/>
        </a:buBlip>
        <a:defRPr sz="1400" kern="1200">
          <a:solidFill>
            <a:schemeClr val="tx1">
              <a:lumMod val="85000"/>
              <a:lumOff val="15000"/>
            </a:schemeClr>
          </a:solidFill>
          <a:latin typeface="Calibri" pitchFamily="34" charset="0"/>
          <a:ea typeface="+mn-ea"/>
          <a:cs typeface="Calibri" pitchFamily="34" charset="0"/>
        </a:defRPr>
      </a:lvl1pPr>
      <a:lvl2pPr marL="357188" indent="-174625" algn="l" rtl="0" eaLnBrk="1" fontAlgn="base" hangingPunct="1">
        <a:lnSpc>
          <a:spcPct val="90000"/>
        </a:lnSpc>
        <a:spcBef>
          <a:spcPts val="0"/>
        </a:spcBef>
        <a:spcAft>
          <a:spcPts val="400"/>
        </a:spcAft>
        <a:buClr>
          <a:schemeClr val="tx2"/>
        </a:buClr>
        <a:buFontTx/>
        <a:buBlip>
          <a:blip r:embed="rId20"/>
        </a:buBlip>
        <a:defRPr sz="1200" kern="1200">
          <a:solidFill>
            <a:schemeClr val="tx1">
              <a:lumMod val="85000"/>
              <a:lumOff val="15000"/>
            </a:schemeClr>
          </a:solidFill>
          <a:latin typeface="Calibri" pitchFamily="34" charset="0"/>
          <a:ea typeface="+mn-ea"/>
          <a:cs typeface="Calibri" pitchFamily="34" charset="0"/>
        </a:defRPr>
      </a:lvl2pPr>
      <a:lvl3pPr marL="539750" indent="-182563" algn="l" rtl="0" eaLnBrk="1" fontAlgn="base" hangingPunct="1">
        <a:lnSpc>
          <a:spcPct val="90000"/>
        </a:lnSpc>
        <a:spcBef>
          <a:spcPts val="0"/>
        </a:spcBef>
        <a:spcAft>
          <a:spcPts val="400"/>
        </a:spcAft>
        <a:buFontTx/>
        <a:buBlip>
          <a:blip r:embed="rId20"/>
        </a:buBlip>
        <a:defRPr sz="1100" kern="1200">
          <a:solidFill>
            <a:schemeClr val="tx1">
              <a:lumMod val="85000"/>
              <a:lumOff val="15000"/>
            </a:schemeClr>
          </a:solidFill>
          <a:latin typeface="Calibri" pitchFamily="34" charset="0"/>
          <a:ea typeface="+mn-ea"/>
          <a:cs typeface="Calibri" pitchFamily="34" charset="0"/>
        </a:defRPr>
      </a:lvl3pPr>
      <a:lvl4pPr marL="712788" indent="-173038" algn="l" rtl="0" eaLnBrk="1" fontAlgn="base" hangingPunct="1">
        <a:lnSpc>
          <a:spcPct val="90000"/>
        </a:lnSpc>
        <a:spcBef>
          <a:spcPts val="0"/>
        </a:spcBef>
        <a:spcAft>
          <a:spcPts val="400"/>
        </a:spcAft>
        <a:buFontTx/>
        <a:buBlip>
          <a:blip r:embed="rId20"/>
        </a:buBlip>
        <a:defRPr sz="1000" kern="1200">
          <a:solidFill>
            <a:schemeClr val="tx1">
              <a:lumMod val="85000"/>
              <a:lumOff val="15000"/>
            </a:schemeClr>
          </a:solidFill>
          <a:latin typeface="Calibri" pitchFamily="34" charset="0"/>
          <a:ea typeface="+mn-ea"/>
          <a:cs typeface="Calibri" pitchFamily="34" charset="0"/>
        </a:defRPr>
      </a:lvl4pPr>
      <a:lvl5pPr marL="895350" indent="-182563" algn="l" rtl="0" eaLnBrk="1" fontAlgn="base" hangingPunct="1">
        <a:lnSpc>
          <a:spcPct val="90000"/>
        </a:lnSpc>
        <a:spcBef>
          <a:spcPts val="0"/>
        </a:spcBef>
        <a:spcAft>
          <a:spcPts val="400"/>
        </a:spcAft>
        <a:buFontTx/>
        <a:buBlip>
          <a:blip r:embed="rId20"/>
        </a:buBlip>
        <a:defRPr sz="1000" kern="1200">
          <a:solidFill>
            <a:schemeClr val="tx1">
              <a:lumMod val="85000"/>
              <a:lumOff val="15000"/>
            </a:schemeClr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9.xml"/><Relationship Id="rId7" Type="http://schemas.openxmlformats.org/officeDocument/2006/relationships/oleObject" Target="../embeddings/oleObject2.bin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.xml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European Data Portal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Activities in a nutshell</a:t>
            </a:r>
            <a:endParaRPr lang="en-GB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Perchè</a:t>
            </a:r>
            <a:r>
              <a:rPr lang="en-GB" dirty="0" smtClean="0"/>
              <a:t> </a:t>
            </a:r>
            <a:r>
              <a:rPr lang="en-GB" dirty="0" err="1" smtClean="0"/>
              <a:t>tutto</a:t>
            </a:r>
            <a:r>
              <a:rPr lang="en-GB" dirty="0" smtClean="0"/>
              <a:t> </a:t>
            </a:r>
            <a:r>
              <a:rPr lang="en-GB" dirty="0" err="1" smtClean="0"/>
              <a:t>queto</a:t>
            </a:r>
            <a:r>
              <a:rPr lang="en-GB" dirty="0" smtClean="0"/>
              <a:t> </a:t>
            </a:r>
            <a:r>
              <a:rPr lang="en-GB" dirty="0" err="1" smtClean="0"/>
              <a:t>interesse</a:t>
            </a:r>
            <a:r>
              <a:rPr lang="en-GB" dirty="0" smtClean="0"/>
              <a:t> </a:t>
            </a:r>
            <a:r>
              <a:rPr lang="en-GB" dirty="0" err="1" smtClean="0"/>
              <a:t>sugli</a:t>
            </a:r>
            <a:r>
              <a:rPr lang="en-GB" dirty="0" smtClean="0"/>
              <a:t> Open Data ?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4 macro </a:t>
            </a:r>
            <a:r>
              <a:rPr lang="en-GB" dirty="0" err="1" smtClean="0"/>
              <a:t>indicatori</a:t>
            </a:r>
            <a:r>
              <a:rPr lang="en-GB" dirty="0" smtClean="0"/>
              <a:t> </a:t>
            </a:r>
            <a:r>
              <a:rPr lang="en-GB" dirty="0" err="1" smtClean="0"/>
              <a:t>economici</a:t>
            </a:r>
            <a:r>
              <a:rPr lang="en-GB" dirty="0" smtClean="0"/>
              <a:t> </a:t>
            </a:r>
            <a:r>
              <a:rPr lang="en-GB" dirty="0" err="1" smtClean="0"/>
              <a:t>di</a:t>
            </a:r>
            <a:r>
              <a:rPr lang="en-GB" dirty="0" smtClean="0"/>
              <a:t> EU28+ </a:t>
            </a:r>
            <a:r>
              <a:rPr lang="en-GB" dirty="0" err="1" smtClean="0"/>
              <a:t>entro</a:t>
            </a:r>
            <a:r>
              <a:rPr lang="en-GB" dirty="0" smtClean="0"/>
              <a:t> </a:t>
            </a:r>
            <a:r>
              <a:rPr lang="en-GB" dirty="0" err="1" smtClean="0"/>
              <a:t>il</a:t>
            </a:r>
            <a:r>
              <a:rPr lang="en-GB" dirty="0" smtClean="0"/>
              <a:t> 2020</a:t>
            </a:r>
            <a:endParaRPr lang="en-GB" dirty="0"/>
          </a:p>
        </p:txBody>
      </p:sp>
      <p:grpSp>
        <p:nvGrpSpPr>
          <p:cNvPr id="21" name="Group 20"/>
          <p:cNvGrpSpPr/>
          <p:nvPr/>
        </p:nvGrpSpPr>
        <p:grpSpPr>
          <a:xfrm>
            <a:off x="272350" y="1628800"/>
            <a:ext cx="9361300" cy="4542678"/>
            <a:chOff x="272350" y="1622626"/>
            <a:chExt cx="9361300" cy="4542678"/>
          </a:xfrm>
        </p:grpSpPr>
        <p:graphicFrame>
          <p:nvGraphicFramePr>
            <p:cNvPr id="8" name="Content Placeholder 9"/>
            <p:cNvGraphicFramePr>
              <a:graphicFrameLocks/>
            </p:cNvGraphicFramePr>
            <p:nvPr>
              <p:extLst/>
            </p:nvPr>
          </p:nvGraphicFramePr>
          <p:xfrm>
            <a:off x="272350" y="1622626"/>
            <a:ext cx="7652450" cy="453663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9" name="Group 8"/>
            <p:cNvGrpSpPr/>
            <p:nvPr/>
          </p:nvGrpSpPr>
          <p:grpSpPr>
            <a:xfrm>
              <a:off x="7977420" y="1622626"/>
              <a:ext cx="1656230" cy="942178"/>
              <a:chOff x="0" y="3"/>
              <a:chExt cx="2063086" cy="1374238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0" y="3"/>
                <a:ext cx="2063086" cy="1374238"/>
              </a:xfrm>
              <a:prstGeom prst="roundRect">
                <a:avLst/>
              </a:prstGeom>
              <a:solidFill>
                <a:srgbClr val="2C3581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GB" dirty="0" smtClean="0"/>
                  <a:t>€ 75.7 </a:t>
                </a:r>
                <a:r>
                  <a:rPr lang="en-GB" dirty="0" err="1" smtClean="0"/>
                  <a:t>miliardi</a:t>
                </a:r>
                <a:endParaRPr lang="en-GB" dirty="0" smtClean="0"/>
              </a:p>
            </p:txBody>
          </p:sp>
          <p:sp>
            <p:nvSpPr>
              <p:cNvPr id="11" name="Rounded Rectangle 4"/>
              <p:cNvSpPr/>
              <p:nvPr/>
            </p:nvSpPr>
            <p:spPr>
              <a:xfrm>
                <a:off x="67085" y="67088"/>
                <a:ext cx="1928916" cy="124006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0500" tIns="95250" rIns="190500" bIns="95250" numCol="1" spcCol="1270" anchor="ctr" anchorCtr="0">
                <a:noAutofit/>
              </a:bodyPr>
              <a:lstStyle/>
              <a:p>
                <a:pPr lvl="0" algn="ctr" defTabSz="2222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GB" sz="5000" kern="1200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7977420" y="5223126"/>
              <a:ext cx="1656229" cy="942178"/>
              <a:chOff x="0" y="3"/>
              <a:chExt cx="2063085" cy="1374238"/>
            </a:xfrm>
            <a:solidFill>
              <a:srgbClr val="F9A01B"/>
            </a:solidFill>
          </p:grpSpPr>
          <p:sp>
            <p:nvSpPr>
              <p:cNvPr id="13" name="Rounded Rectangle 12"/>
              <p:cNvSpPr/>
              <p:nvPr/>
            </p:nvSpPr>
            <p:spPr>
              <a:xfrm>
                <a:off x="0" y="3"/>
                <a:ext cx="2063085" cy="137423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4" name="Rounded Rectangle 4"/>
              <p:cNvSpPr/>
              <p:nvPr/>
            </p:nvSpPr>
            <p:spPr>
              <a:xfrm>
                <a:off x="67085" y="67087"/>
                <a:ext cx="1928916" cy="124006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0500" tIns="95250" rIns="190500" bIns="95250" numCol="1" spcCol="1270" anchor="ctr" anchorCtr="0">
                <a:noAutofit/>
              </a:bodyPr>
              <a:lstStyle/>
              <a:p>
                <a:r>
                  <a:rPr lang="en-GB" dirty="0" smtClean="0"/>
                  <a:t>7,000 </a:t>
                </a:r>
                <a:r>
                  <a:rPr lang="en-GB" dirty="0" err="1" smtClean="0"/>
                  <a:t>vite</a:t>
                </a:r>
                <a:endParaRPr lang="en-GB" dirty="0" smtClean="0"/>
              </a:p>
              <a:p>
                <a:r>
                  <a:rPr lang="en-GB" dirty="0" smtClean="0"/>
                  <a:t>16% </a:t>
                </a:r>
                <a:r>
                  <a:rPr lang="en-GB" dirty="0" err="1" smtClean="0"/>
                  <a:t>energia</a:t>
                </a:r>
                <a:endParaRPr lang="en-GB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77420" y="2822793"/>
              <a:ext cx="1656230" cy="942178"/>
              <a:chOff x="0" y="3"/>
              <a:chExt cx="2063086" cy="1374238"/>
            </a:xfrm>
            <a:solidFill>
              <a:srgbClr val="0C71B6"/>
            </a:solidFill>
          </p:grpSpPr>
          <p:sp>
            <p:nvSpPr>
              <p:cNvPr id="16" name="Rounded Rectangle 15"/>
              <p:cNvSpPr/>
              <p:nvPr/>
            </p:nvSpPr>
            <p:spPr>
              <a:xfrm>
                <a:off x="0" y="3"/>
                <a:ext cx="2063086" cy="137423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7" name="Rounded Rectangle 4"/>
              <p:cNvSpPr/>
              <p:nvPr/>
            </p:nvSpPr>
            <p:spPr>
              <a:xfrm>
                <a:off x="67085" y="67088"/>
                <a:ext cx="1928916" cy="124006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0500" tIns="95250" rIns="190500" bIns="95250" numCol="1" spcCol="1270" anchor="ctr" anchorCtr="0">
                <a:noAutofit/>
              </a:bodyPr>
              <a:lstStyle/>
              <a:p>
                <a:pPr lvl="0" algn="ctr" defTabSz="222250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 smtClean="0"/>
                  <a:t>25,000 </a:t>
                </a:r>
                <a:r>
                  <a:rPr lang="en-GB" dirty="0" err="1" smtClean="0"/>
                  <a:t>lavori</a:t>
                </a:r>
                <a:endParaRPr lang="en-GB" dirty="0" smtClean="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977420" y="4022960"/>
              <a:ext cx="1656230" cy="942178"/>
              <a:chOff x="0" y="3"/>
              <a:chExt cx="2063086" cy="1374238"/>
            </a:xfrm>
            <a:solidFill>
              <a:srgbClr val="00AEEF"/>
            </a:solidFill>
          </p:grpSpPr>
          <p:sp>
            <p:nvSpPr>
              <p:cNvPr id="19" name="Rounded Rectangle 18"/>
              <p:cNvSpPr/>
              <p:nvPr/>
            </p:nvSpPr>
            <p:spPr>
              <a:xfrm>
                <a:off x="0" y="3"/>
                <a:ext cx="2063086" cy="137423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Rounded Rectangle 4"/>
              <p:cNvSpPr/>
              <p:nvPr/>
            </p:nvSpPr>
            <p:spPr>
              <a:xfrm>
                <a:off x="67085" y="67088"/>
                <a:ext cx="1928916" cy="124006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90500" tIns="95250" rIns="190500" bIns="95250" numCol="1" spcCol="1270" anchor="ctr" anchorCtr="0">
                <a:noAutofit/>
              </a:bodyPr>
              <a:lstStyle/>
              <a:p>
                <a:pPr lvl="0" algn="ctr" defTabSz="222250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 smtClean="0"/>
                  <a:t>€ 1.7 </a:t>
                </a:r>
                <a:r>
                  <a:rPr lang="en-GB" dirty="0" err="1" smtClean="0"/>
                  <a:t>miliardi</a:t>
                </a:r>
                <a:endParaRPr lang="en-GB" kern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04774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itle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50838" y="0"/>
            <a:ext cx="7243762" cy="895580"/>
          </a:xfrm>
        </p:spPr>
        <p:txBody>
          <a:bodyPr/>
          <a:lstStyle/>
          <a:p>
            <a:pPr eaLnBrk="1" hangingPunct="1"/>
            <a:r>
              <a:rPr lang="fr-FR" dirty="0" smtClean="0"/>
              <a:t>I </a:t>
            </a:r>
            <a:r>
              <a:rPr lang="fr-FR" dirty="0" err="1" smtClean="0"/>
              <a:t>benefici</a:t>
            </a:r>
            <a:r>
              <a:rPr lang="fr-FR" dirty="0" smtClean="0"/>
              <a:t> </a:t>
            </a:r>
            <a:r>
              <a:rPr lang="fr-FR" dirty="0" err="1" smtClean="0"/>
              <a:t>nell’uso</a:t>
            </a:r>
            <a:r>
              <a:rPr lang="fr-FR" dirty="0" smtClean="0"/>
              <a:t> di Open Data sono vari e </a:t>
            </a:r>
            <a:r>
              <a:rPr lang="fr-FR" dirty="0" err="1" smtClean="0"/>
              <a:t>vanno</a:t>
            </a:r>
            <a:r>
              <a:rPr lang="fr-FR" dirty="0" smtClean="0"/>
              <a:t> dal </a:t>
            </a:r>
            <a:r>
              <a:rPr lang="fr-FR" dirty="0" err="1" smtClean="0"/>
              <a:t>miglioramento</a:t>
            </a:r>
            <a:r>
              <a:rPr lang="fr-FR" dirty="0" smtClean="0"/>
              <a:t> delle </a:t>
            </a:r>
            <a:r>
              <a:rPr lang="fr-FR" dirty="0" err="1" smtClean="0"/>
              <a:t>prestazioni</a:t>
            </a:r>
            <a:r>
              <a:rPr lang="fr-FR" dirty="0" smtClean="0"/>
              <a:t> delle </a:t>
            </a:r>
            <a:r>
              <a:rPr lang="fr-FR" dirty="0" err="1" smtClean="0"/>
              <a:t>Amministrazioni</a:t>
            </a:r>
            <a:r>
              <a:rPr lang="fr-FR" dirty="0" smtClean="0"/>
              <a:t> </a:t>
            </a:r>
            <a:r>
              <a:rPr lang="fr-FR" dirty="0" err="1" smtClean="0"/>
              <a:t>Pubbliche</a:t>
            </a:r>
            <a:r>
              <a:rPr lang="fr-FR" dirty="0" smtClean="0"/>
              <a:t>, alla </a:t>
            </a:r>
            <a:r>
              <a:rPr lang="fr-FR" dirty="0" err="1" smtClean="0"/>
              <a:t>crescita</a:t>
            </a:r>
            <a:r>
              <a:rPr lang="fr-FR" dirty="0" smtClean="0"/>
              <a:t> </a:t>
            </a:r>
            <a:r>
              <a:rPr lang="fr-FR" dirty="0" err="1" smtClean="0"/>
              <a:t>economica</a:t>
            </a:r>
            <a:r>
              <a:rPr lang="fr-FR" dirty="0" smtClean="0"/>
              <a:t> </a:t>
            </a:r>
            <a:r>
              <a:rPr lang="fr-FR" dirty="0" err="1" smtClean="0"/>
              <a:t>nel</a:t>
            </a:r>
            <a:r>
              <a:rPr lang="fr-FR" dirty="0" smtClean="0"/>
              <a:t> </a:t>
            </a:r>
            <a:r>
              <a:rPr lang="fr-FR" dirty="0" err="1" smtClean="0"/>
              <a:t>settore</a:t>
            </a:r>
            <a:r>
              <a:rPr lang="fr-FR" dirty="0" smtClean="0"/>
              <a:t> </a:t>
            </a:r>
            <a:r>
              <a:rPr lang="fr-FR" dirty="0" err="1" smtClean="0"/>
              <a:t>privato</a:t>
            </a:r>
            <a:r>
              <a:rPr lang="fr-FR" dirty="0" smtClean="0"/>
              <a:t> sino al </a:t>
            </a:r>
            <a:r>
              <a:rPr lang="fr-FR" dirty="0" err="1" smtClean="0"/>
              <a:t>supporto</a:t>
            </a:r>
            <a:r>
              <a:rPr lang="fr-FR" dirty="0" smtClean="0"/>
              <a:t> al social </a:t>
            </a:r>
            <a:r>
              <a:rPr lang="fr-FR" dirty="0" err="1" smtClean="0"/>
              <a:t>welfare</a:t>
            </a:r>
            <a:endParaRPr lang="fr-FR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294967295"/>
            <p:custDataLst>
              <p:tags r:id="rId4"/>
            </p:custDataLst>
          </p:nvPr>
        </p:nvSpPr>
        <p:spPr>
          <a:xfrm>
            <a:off x="350838" y="1089442"/>
            <a:ext cx="928211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0363" indent="0" algn="ctr">
              <a:buNone/>
            </a:pPr>
            <a:r>
              <a:rPr lang="en-GB" sz="1600" i="1" dirty="0" smtClean="0">
                <a:solidFill>
                  <a:srgbClr val="F26829"/>
                </a:solidFill>
              </a:rPr>
              <a:t>I </a:t>
            </a:r>
            <a:r>
              <a:rPr lang="en-GB" sz="1600" i="1" dirty="0" err="1" smtClean="0">
                <a:solidFill>
                  <a:srgbClr val="F26829"/>
                </a:solidFill>
              </a:rPr>
              <a:t>benefici</a:t>
            </a:r>
            <a:r>
              <a:rPr lang="en-GB" sz="1600" i="1" dirty="0" smtClean="0">
                <a:solidFill>
                  <a:srgbClr val="F26829"/>
                </a:solidFill>
              </a:rPr>
              <a:t> </a:t>
            </a:r>
            <a:r>
              <a:rPr lang="en-GB" sz="1600" i="1" dirty="0" err="1" smtClean="0">
                <a:solidFill>
                  <a:srgbClr val="F26829"/>
                </a:solidFill>
              </a:rPr>
              <a:t>degli</a:t>
            </a:r>
            <a:r>
              <a:rPr lang="en-GB" sz="1600" i="1" dirty="0" smtClean="0">
                <a:solidFill>
                  <a:srgbClr val="F26829"/>
                </a:solidFill>
              </a:rPr>
              <a:t> open data</a:t>
            </a:r>
            <a:endParaRPr lang="en-GB" sz="1600" i="1" dirty="0">
              <a:solidFill>
                <a:srgbClr val="F26829"/>
              </a:solidFill>
            </a:endParaRPr>
          </a:p>
        </p:txBody>
      </p:sp>
      <p:sp>
        <p:nvSpPr>
          <p:cNvPr id="69" name="Title 1"/>
          <p:cNvSpPr txBox="1">
            <a:spLocks/>
          </p:cNvSpPr>
          <p:nvPr/>
        </p:nvSpPr>
        <p:spPr bwMode="auto">
          <a:xfrm>
            <a:off x="488504" y="5366524"/>
            <a:ext cx="9001126" cy="76517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 fontAlgn="auto"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it-IT" b="1" dirty="0" smtClean="0"/>
              <a:t>Il Portale europeo dei dati raccoglie i metadati delle informazioni del settore pubblico disponibili sui portali di dati pubblici dei vari paesi europei.</a:t>
            </a:r>
            <a:endParaRPr lang="it-IT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1587" y="1484784"/>
            <a:ext cx="7362825" cy="34099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71586" y="4908510"/>
            <a:ext cx="73628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200" dirty="0" smtClean="0">
                <a:solidFill>
                  <a:schemeClr val="bg1">
                    <a:lumMod val="65000"/>
                  </a:schemeClr>
                </a:solidFill>
              </a:rPr>
              <a:t>http://www.europeandataportal.eu/</a:t>
            </a:r>
            <a:r>
              <a:rPr lang="it-IT" sz="1200" dirty="0" err="1" smtClean="0">
                <a:solidFill>
                  <a:schemeClr val="bg1">
                    <a:lumMod val="65000"/>
                  </a:schemeClr>
                </a:solidFill>
              </a:rPr>
              <a:t>it</a:t>
            </a:r>
            <a:r>
              <a:rPr lang="it-IT" sz="1200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it-IT" sz="1200" dirty="0" err="1" smtClean="0">
                <a:solidFill>
                  <a:schemeClr val="bg1">
                    <a:lumMod val="65000"/>
                  </a:schemeClr>
                </a:solidFill>
              </a:rPr>
              <a:t>content</a:t>
            </a:r>
            <a:r>
              <a:rPr lang="it-IT" sz="1200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it-IT" sz="1200" dirty="0" err="1" smtClean="0">
                <a:solidFill>
                  <a:schemeClr val="bg1">
                    <a:lumMod val="65000"/>
                  </a:schemeClr>
                </a:solidFill>
              </a:rPr>
              <a:t>vantaggi-delluso-di-dati</a:t>
            </a:r>
            <a:endParaRPr lang="it-IT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426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38" y="0"/>
            <a:ext cx="4674171" cy="895580"/>
          </a:xfrm>
        </p:spPr>
        <p:txBody>
          <a:bodyPr/>
          <a:lstStyle/>
          <a:p>
            <a:r>
              <a:rPr lang="fr-FR" sz="2800" dirty="0" smtClean="0"/>
              <a:t>www.europeandataportal.eu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50836" y="1628800"/>
            <a:ext cx="4890195" cy="48243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+590.000 </a:t>
            </a:r>
            <a:r>
              <a:rPr lang="en-GB" sz="1600" dirty="0" smtClean="0"/>
              <a:t>metadata </a:t>
            </a:r>
            <a:r>
              <a:rPr lang="en-GB" sz="1600" dirty="0"/>
              <a:t>sets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/>
              <a:t>34 </a:t>
            </a:r>
            <a:r>
              <a:rPr lang="en-GB" sz="1600" dirty="0" err="1" smtClean="0"/>
              <a:t>nazioni</a:t>
            </a:r>
            <a:r>
              <a:rPr lang="en-GB" sz="1600" dirty="0" smtClean="0"/>
              <a:t> </a:t>
            </a:r>
            <a:r>
              <a:rPr lang="en-GB" sz="1600" dirty="0" err="1" smtClean="0"/>
              <a:t>coinvolte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72</a:t>
            </a:r>
            <a:r>
              <a:rPr lang="en-GB" sz="1600" dirty="0" smtClean="0"/>
              <a:t> </a:t>
            </a:r>
            <a:r>
              <a:rPr lang="en-GB" sz="1600" dirty="0" err="1" smtClean="0"/>
              <a:t>cataloghi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/>
              <a:t>13 </a:t>
            </a:r>
            <a:r>
              <a:rPr lang="en-GB" sz="1600" dirty="0" err="1" smtClean="0"/>
              <a:t>categorie</a:t>
            </a:r>
            <a:r>
              <a:rPr lang="en-GB" sz="1600" dirty="0" smtClean="0"/>
              <a:t> </a:t>
            </a:r>
            <a:r>
              <a:rPr lang="en-GB" sz="1600" dirty="0" err="1" smtClean="0"/>
              <a:t>di</a:t>
            </a:r>
            <a:r>
              <a:rPr lang="en-GB" sz="1600" dirty="0" smtClean="0"/>
              <a:t> </a:t>
            </a:r>
            <a:r>
              <a:rPr lang="en-GB" sz="1600" dirty="0" err="1" smtClean="0"/>
              <a:t>metadati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Assessment </a:t>
            </a:r>
            <a:r>
              <a:rPr lang="en-GB" sz="1600" dirty="0" err="1" smtClean="0"/>
              <a:t>della</a:t>
            </a:r>
            <a:r>
              <a:rPr lang="en-GB" sz="1600" dirty="0" smtClean="0"/>
              <a:t> </a:t>
            </a:r>
            <a:r>
              <a:rPr lang="en-GB" sz="1600" dirty="0" err="1" smtClean="0"/>
              <a:t>qualità</a:t>
            </a:r>
            <a:r>
              <a:rPr lang="en-GB" sz="1600" dirty="0" smtClean="0"/>
              <a:t> </a:t>
            </a:r>
            <a:r>
              <a:rPr lang="en-GB" sz="1600" dirty="0" err="1" smtClean="0"/>
              <a:t>dei</a:t>
            </a:r>
            <a:r>
              <a:rPr lang="en-GB" sz="1600" dirty="0" smtClean="0"/>
              <a:t> </a:t>
            </a:r>
            <a:r>
              <a:rPr lang="en-GB" sz="1600" dirty="0" err="1" smtClean="0"/>
              <a:t>metadati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12 </a:t>
            </a:r>
            <a:r>
              <a:rPr lang="en-GB" sz="1600" dirty="0" err="1" smtClean="0"/>
              <a:t>linguaggi</a:t>
            </a:r>
            <a:r>
              <a:rPr lang="en-GB" sz="1600" dirty="0" smtClean="0"/>
              <a:t> a </a:t>
            </a:r>
            <a:r>
              <a:rPr lang="en-GB" sz="1600" dirty="0" err="1" smtClean="0"/>
              <a:t>fini</a:t>
            </a:r>
            <a:r>
              <a:rPr lang="en-GB" sz="1600" dirty="0" smtClean="0"/>
              <a:t> </a:t>
            </a:r>
            <a:r>
              <a:rPr lang="en-GB" sz="1600" dirty="0" err="1" smtClean="0"/>
              <a:t>statistici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err="1" smtClean="0"/>
              <a:t>Visualizzazioni</a:t>
            </a:r>
            <a:r>
              <a:rPr lang="en-GB" sz="1600" dirty="0" smtClean="0"/>
              <a:t> e </a:t>
            </a:r>
            <a:r>
              <a:rPr lang="en-GB" sz="1600" dirty="0" err="1" smtClean="0"/>
              <a:t>mappe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Un </a:t>
            </a:r>
            <a:r>
              <a:rPr lang="en-GB" sz="1600" dirty="0" err="1" smtClean="0"/>
              <a:t>Goldbook</a:t>
            </a:r>
            <a:r>
              <a:rPr lang="en-GB" sz="1600" dirty="0" smtClean="0"/>
              <a:t> per </a:t>
            </a:r>
            <a:r>
              <a:rPr lang="en-GB" sz="1600" dirty="0" err="1" smtClean="0"/>
              <a:t>i</a:t>
            </a:r>
            <a:r>
              <a:rPr lang="en-GB" sz="1600" dirty="0" smtClean="0"/>
              <a:t> </a:t>
            </a:r>
            <a:r>
              <a:rPr lang="en-GB" sz="1600" dirty="0" err="1" smtClean="0"/>
              <a:t>produttori</a:t>
            </a:r>
            <a:r>
              <a:rPr lang="en-GB" sz="1600" dirty="0" smtClean="0"/>
              <a:t> </a:t>
            </a:r>
            <a:r>
              <a:rPr lang="en-GB" sz="1600" dirty="0" err="1" smtClean="0"/>
              <a:t>di</a:t>
            </a:r>
            <a:r>
              <a:rPr lang="en-GB" sz="1600" dirty="0" smtClean="0"/>
              <a:t> open data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err="1" smtClean="0"/>
              <a:t>Materiale</a:t>
            </a:r>
            <a:r>
              <a:rPr lang="en-GB" sz="1600" dirty="0" smtClean="0"/>
              <a:t> per </a:t>
            </a:r>
            <a:r>
              <a:rPr lang="en-GB" sz="1600" dirty="0" err="1" smtClean="0"/>
              <a:t>traning</a:t>
            </a:r>
            <a:r>
              <a:rPr lang="en-GB" sz="1600" dirty="0" smtClean="0"/>
              <a:t> e eLearning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err="1" smtClean="0"/>
              <a:t>Libreria</a:t>
            </a:r>
            <a:r>
              <a:rPr lang="en-GB" sz="1600" dirty="0" smtClean="0"/>
              <a:t> </a:t>
            </a:r>
            <a:r>
              <a:rPr lang="en-GB" sz="1600" dirty="0" err="1" smtClean="0"/>
              <a:t>di</a:t>
            </a:r>
            <a:r>
              <a:rPr lang="en-GB" sz="1600" dirty="0" smtClean="0"/>
              <a:t> </a:t>
            </a:r>
            <a:r>
              <a:rPr lang="en-GB" sz="1600" dirty="0" err="1" smtClean="0"/>
              <a:t>materiale</a:t>
            </a:r>
            <a:r>
              <a:rPr lang="en-GB" sz="1600" dirty="0" smtClean="0"/>
              <a:t> </a:t>
            </a:r>
            <a:r>
              <a:rPr lang="en-GB" sz="1600" dirty="0" err="1" smtClean="0"/>
              <a:t>didattico</a:t>
            </a:r>
            <a:r>
              <a:rPr lang="en-GB" sz="1600" dirty="0" smtClean="0"/>
              <a:t>, </a:t>
            </a:r>
            <a:r>
              <a:rPr lang="en-GB" sz="1600" dirty="0" err="1" smtClean="0"/>
              <a:t>esempi</a:t>
            </a:r>
            <a:r>
              <a:rPr lang="en-GB" sz="1600" dirty="0" smtClean="0"/>
              <a:t> </a:t>
            </a:r>
            <a:r>
              <a:rPr lang="en-GB" sz="1600" dirty="0" err="1" smtClean="0"/>
              <a:t>di</a:t>
            </a:r>
            <a:r>
              <a:rPr lang="en-GB" sz="1600" dirty="0" smtClean="0"/>
              <a:t> </a:t>
            </a:r>
            <a:r>
              <a:rPr lang="en-GB" sz="1600" dirty="0" err="1" smtClean="0"/>
              <a:t>riuso</a:t>
            </a:r>
            <a:r>
              <a:rPr lang="en-GB" sz="1600" dirty="0" smtClean="0"/>
              <a:t>, </a:t>
            </a:r>
            <a:r>
              <a:rPr lang="en-GB" sz="1600" dirty="0" err="1" smtClean="0"/>
              <a:t>presentazioni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err="1" smtClean="0"/>
              <a:t>Dati</a:t>
            </a:r>
            <a:r>
              <a:rPr lang="en-GB" sz="1600" dirty="0" smtClean="0"/>
              <a:t> e </a:t>
            </a:r>
            <a:r>
              <a:rPr lang="en-GB" sz="1600" dirty="0" err="1" smtClean="0"/>
              <a:t>notizie</a:t>
            </a:r>
            <a:r>
              <a:rPr lang="en-GB" sz="1600" dirty="0" smtClean="0"/>
              <a:t> in primo piano</a:t>
            </a:r>
            <a:endParaRPr lang="en-GB" sz="16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sz="1600" dirty="0" smtClean="0"/>
              <a:t>News </a:t>
            </a:r>
            <a:r>
              <a:rPr lang="en-GB" sz="1600" dirty="0" err="1" smtClean="0"/>
              <a:t>settimanali</a:t>
            </a:r>
            <a:r>
              <a:rPr lang="en-GB" sz="1600" dirty="0" smtClean="0"/>
              <a:t> </a:t>
            </a:r>
            <a:r>
              <a:rPr lang="en-GB" sz="1600" dirty="0" err="1" smtClean="0"/>
              <a:t>sugli</a:t>
            </a:r>
            <a:r>
              <a:rPr lang="en-GB" sz="1600" dirty="0" smtClean="0"/>
              <a:t> Open Data</a:t>
            </a:r>
            <a:endParaRPr lang="en-GB" sz="1600" dirty="0"/>
          </a:p>
          <a:p>
            <a:pPr marL="0" indent="0">
              <a:buNone/>
            </a:pPr>
            <a:endParaRPr lang="fr-FR" sz="16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50839" y="1123950"/>
            <a:ext cx="4674170" cy="433388"/>
          </a:xfrm>
        </p:spPr>
        <p:txBody>
          <a:bodyPr/>
          <a:lstStyle/>
          <a:p>
            <a:pPr algn="l"/>
            <a:r>
              <a:rPr lang="fr-FR" sz="1800" dirty="0" err="1" smtClean="0"/>
              <a:t>Progetto</a:t>
            </a:r>
            <a:r>
              <a:rPr lang="fr-FR" sz="1800" dirty="0" smtClean="0"/>
              <a:t> </a:t>
            </a:r>
            <a:r>
              <a:rPr lang="fr-FR" sz="1800" dirty="0" err="1" smtClean="0"/>
              <a:t>lanciato</a:t>
            </a:r>
            <a:r>
              <a:rPr lang="fr-FR" sz="1800" dirty="0" smtClean="0"/>
              <a:t>  il 16 Novembre 2015</a:t>
            </a:r>
            <a:endParaRPr lang="fr-FR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288" y="-1947"/>
            <a:ext cx="3952524" cy="685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702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 </a:t>
            </a:r>
            <a:r>
              <a:rPr lang="en-US" dirty="0" err="1" smtClean="0"/>
              <a:t>attività</a:t>
            </a:r>
            <a:r>
              <a:rPr lang="en-US" dirty="0" smtClean="0"/>
              <a:t> </a:t>
            </a:r>
            <a:r>
              <a:rPr lang="en-US" dirty="0" err="1" smtClean="0"/>
              <a:t>svolte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44487" y="2204272"/>
            <a:ext cx="9217025" cy="3384968"/>
          </a:xfrm>
        </p:spPr>
        <p:txBody>
          <a:bodyPr/>
          <a:lstStyle/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Offriamo</a:t>
            </a:r>
            <a:r>
              <a:rPr lang="it-IT" sz="1500" dirty="0" smtClean="0">
                <a:solidFill>
                  <a:srgbClr val="0C71B6"/>
                </a:solidFill>
              </a:rPr>
              <a:t> i metadati in 6 lingue (per ora), realizzando controlli di qualità per oltre 430.000 set di dati</a:t>
            </a:r>
          </a:p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Realizziamo</a:t>
            </a:r>
            <a:r>
              <a:rPr lang="it-IT" sz="1500" dirty="0" smtClean="0">
                <a:solidFill>
                  <a:srgbClr val="0C71B6"/>
                </a:solidFill>
              </a:rPr>
              <a:t> una serie di esperienze di apprendimento in materia di Open Data, dall'editoria al riutilizzo Open Data</a:t>
            </a:r>
          </a:p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Esponiamo </a:t>
            </a:r>
            <a:r>
              <a:rPr lang="it-IT" sz="1500" dirty="0" smtClean="0">
                <a:solidFill>
                  <a:srgbClr val="0C71B6"/>
                </a:solidFill>
              </a:rPr>
              <a:t>una vetrina degli eventi Open Data, notizie, migliori prassi nazionali, report, ecc</a:t>
            </a:r>
          </a:p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Raccogliamo</a:t>
            </a:r>
            <a:r>
              <a:rPr lang="it-IT" sz="1500" dirty="0" smtClean="0">
                <a:solidFill>
                  <a:srgbClr val="0C71B6"/>
                </a:solidFill>
              </a:rPr>
              <a:t> le storie delle parti interessate, il loro feedback, i loro portali</a:t>
            </a:r>
          </a:p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Promuoviamo</a:t>
            </a:r>
            <a:r>
              <a:rPr lang="it-IT" sz="1500" dirty="0" smtClean="0">
                <a:solidFill>
                  <a:srgbClr val="0C71B6"/>
                </a:solidFill>
              </a:rPr>
              <a:t> incontri, </a:t>
            </a:r>
            <a:r>
              <a:rPr lang="it-IT" sz="1500" dirty="0" err="1" smtClean="0">
                <a:solidFill>
                  <a:srgbClr val="0C71B6"/>
                </a:solidFill>
              </a:rPr>
              <a:t>webinar</a:t>
            </a:r>
            <a:r>
              <a:rPr lang="it-IT" sz="1500" dirty="0" smtClean="0">
                <a:solidFill>
                  <a:srgbClr val="0C71B6"/>
                </a:solidFill>
              </a:rPr>
              <a:t>, eventi per discutere di dati aperti migliori pratiche, sfide e fasi successive</a:t>
            </a:r>
          </a:p>
          <a:p>
            <a:pPr>
              <a:spcBef>
                <a:spcPts val="600"/>
              </a:spcBef>
              <a:buBlip>
                <a:blip r:embed="rId2"/>
              </a:buBlip>
            </a:pPr>
            <a:r>
              <a:rPr lang="it-IT" sz="1500" b="1" dirty="0" smtClean="0">
                <a:solidFill>
                  <a:srgbClr val="0C71B6"/>
                </a:solidFill>
              </a:rPr>
              <a:t>Condividiamo</a:t>
            </a:r>
            <a:r>
              <a:rPr lang="it-IT" sz="1500" dirty="0" smtClean="0">
                <a:solidFill>
                  <a:srgbClr val="0C71B6"/>
                </a:solidFill>
              </a:rPr>
              <a:t> il codice sorgente per promuovere l'open source e il riutilizzo di componenti e standard</a:t>
            </a:r>
            <a:endParaRPr lang="en-GB" sz="1500" dirty="0" smtClean="0">
              <a:solidFill>
                <a:srgbClr val="0C71B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0838" y="5135770"/>
            <a:ext cx="5970352" cy="1317418"/>
          </a:xfrm>
          <a:prstGeom prst="rect">
            <a:avLst/>
          </a:prstGeom>
        </p:spPr>
        <p:txBody>
          <a:bodyPr wrap="square" numCol="2" rtlCol="0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tabLst/>
            </a:pPr>
            <a:endParaRPr kumimoji="0" lang="en-GB" sz="1800" b="0" i="1" u="none" strike="noStrike" kern="120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488" y="5135770"/>
            <a:ext cx="5976702" cy="1317418"/>
          </a:xfrm>
          <a:prstGeom prst="rect">
            <a:avLst/>
          </a:prstGeom>
        </p:spPr>
        <p:txBody>
          <a:bodyPr wrap="square" numCol="2" rtlCol="0">
            <a:noAutofit/>
          </a:bodyPr>
          <a:lstStyle/>
          <a:p>
            <a:pPr marL="357188" lvl="1" indent="-174625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rgbClr val="6A1A41"/>
              </a:buClr>
              <a:buBlip>
                <a:blip r:embed="rId3"/>
              </a:buBlip>
            </a:pPr>
            <a:endParaRPr kumimoji="0" lang="en-GB" sz="1800" b="0" i="1" u="none" strike="noStrike" kern="120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10" name="Text Placeholder 7"/>
          <p:cNvSpPr txBox="1">
            <a:spLocks/>
          </p:cNvSpPr>
          <p:nvPr/>
        </p:nvSpPr>
        <p:spPr bwMode="auto">
          <a:xfrm>
            <a:off x="424399" y="1226348"/>
            <a:ext cx="9210674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defRPr lang="en-US" sz="1600" i="1" kern="1200" dirty="0" smtClean="0">
                <a:solidFill>
                  <a:srgbClr val="F26829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357188" indent="-174625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Tx/>
              <a:buBlip>
                <a:blip r:embed="rId3"/>
              </a:buBlip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539750" indent="-18256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Tx/>
              <a:buBlip>
                <a:blip r:embed="rId3"/>
              </a:buBlip>
              <a:defRPr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712788" indent="-173038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Tx/>
              <a:buBlip>
                <a:blip r:embed="rId3"/>
              </a:buBlip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895350" indent="-182563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Tx/>
              <a:buBlip>
                <a:blip r:embed="rId3"/>
              </a:buBlip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smtClean="0"/>
              <a:t>“</a:t>
            </a:r>
            <a:r>
              <a:rPr lang="en-GB" b="1" dirty="0" err="1" smtClean="0"/>
              <a:t>Raccolta</a:t>
            </a:r>
            <a:r>
              <a:rPr lang="en-GB" b="1" dirty="0" smtClean="0"/>
              <a:t> </a:t>
            </a:r>
            <a:r>
              <a:rPr lang="en-GB" b="1" dirty="0" err="1" smtClean="0"/>
              <a:t>degli</a:t>
            </a:r>
            <a:r>
              <a:rPr lang="en-GB" b="1" dirty="0" smtClean="0"/>
              <a:t> open data </a:t>
            </a:r>
            <a:r>
              <a:rPr lang="en-GB" b="1" dirty="0" err="1" smtClean="0"/>
              <a:t>messi</a:t>
            </a:r>
            <a:r>
              <a:rPr lang="en-GB" b="1" dirty="0" smtClean="0"/>
              <a:t> a </a:t>
            </a:r>
            <a:r>
              <a:rPr lang="en-GB" b="1" dirty="0" err="1" smtClean="0"/>
              <a:t>disposizione</a:t>
            </a:r>
            <a:r>
              <a:rPr lang="en-GB" b="1" dirty="0" smtClean="0"/>
              <a:t> </a:t>
            </a:r>
            <a:r>
              <a:rPr lang="en-GB" b="1" dirty="0" err="1" smtClean="0"/>
              <a:t>dalle</a:t>
            </a:r>
            <a:r>
              <a:rPr lang="en-GB" b="1" dirty="0" smtClean="0"/>
              <a:t> </a:t>
            </a:r>
            <a:r>
              <a:rPr lang="en-GB" b="1" dirty="0" err="1" smtClean="0"/>
              <a:t>pubbliche</a:t>
            </a:r>
            <a:r>
              <a:rPr lang="en-GB" b="1" dirty="0" smtClean="0"/>
              <a:t> </a:t>
            </a:r>
            <a:r>
              <a:rPr lang="en-GB" b="1" dirty="0" err="1" smtClean="0"/>
              <a:t>amministrazioni</a:t>
            </a:r>
            <a:r>
              <a:rPr lang="en-GB" b="1" dirty="0" smtClean="0"/>
              <a:t> </a:t>
            </a:r>
            <a:r>
              <a:rPr lang="en-GB" b="1" dirty="0" err="1" smtClean="0"/>
              <a:t>di</a:t>
            </a:r>
            <a:r>
              <a:rPr lang="en-GB" b="1" dirty="0" smtClean="0"/>
              <a:t> </a:t>
            </a:r>
            <a:r>
              <a:rPr lang="en-GB" b="1" dirty="0" err="1" smtClean="0"/>
              <a:t>tutta</a:t>
            </a:r>
            <a:r>
              <a:rPr lang="en-GB" b="1" dirty="0" smtClean="0"/>
              <a:t> </a:t>
            </a:r>
            <a:r>
              <a:rPr lang="en-GB" b="1" dirty="0" err="1" smtClean="0"/>
              <a:t>Europa</a:t>
            </a:r>
            <a:r>
              <a:rPr lang="en-GB" b="1" dirty="0" smtClean="0"/>
              <a:t>”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806368"/>
            <a:ext cx="9906000" cy="148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05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/>
          <p:cNvSpPr/>
          <p:nvPr/>
        </p:nvSpPr>
        <p:spPr>
          <a:xfrm>
            <a:off x="0" y="-4898"/>
            <a:ext cx="9906000" cy="6858000"/>
          </a:xfrm>
          <a:prstGeom prst="rect">
            <a:avLst/>
          </a:prstGeom>
          <a:solidFill>
            <a:srgbClr val="FBC069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90500" tIns="95250" rIns="190500" bIns="95250" numCol="1" spcCol="1270" anchor="ctr" anchorCtr="0">
            <a:noAutofit/>
          </a:bodyPr>
          <a:lstStyle/>
          <a:p>
            <a:pPr lvl="0" algn="ctr" defTabSz="2222500">
              <a:lnSpc>
                <a:spcPct val="90000"/>
              </a:lnSpc>
              <a:spcAft>
                <a:spcPct val="35000"/>
              </a:spcAft>
            </a:pPr>
            <a:endParaRPr lang="en-GB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0" y="116632"/>
            <a:ext cx="9100858" cy="36943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496" y="3810937"/>
            <a:ext cx="9685076" cy="10801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tabLst/>
            </a:pPr>
            <a:r>
              <a:rPr lang="fr-FR" sz="8000" b="1" noProof="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Go and </a:t>
            </a:r>
            <a:r>
              <a:rPr lang="fr-FR" sz="8000" b="1" noProof="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try</a:t>
            </a:r>
            <a:r>
              <a:rPr lang="fr-FR" sz="8000" b="1" noProof="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sz="8000" b="1" noProof="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it</a:t>
            </a:r>
            <a:r>
              <a:rPr lang="fr-FR" sz="8000" b="1" noProof="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out</a:t>
            </a:r>
            <a:r>
              <a:rPr lang="fr-FR" sz="8000" b="1" noProof="0" dirty="0" smtClean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.</a:t>
            </a:r>
            <a:endParaRPr kumimoji="0" lang="fr-FR" sz="6000" u="none" strike="noStrike" kern="120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0472" y="5445224"/>
            <a:ext cx="9685076" cy="10801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ct val="100000"/>
              <a:buFontTx/>
              <a:buNone/>
              <a:tabLst/>
            </a:pPr>
            <a:r>
              <a:rPr lang="fr-FR" sz="6000" noProof="0" dirty="0" smtClean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www.europeandataportal.eu</a:t>
            </a:r>
            <a:endParaRPr kumimoji="0" lang="fr-FR" sz="4400" u="none" strike="noStrike" kern="120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9983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xjpkka5c0C1gtZLmRr9R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ohlVhh.c0qEQvPlYX2Pp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7VUPuoqfkeq5orygcpA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_Ty1kAz0UmWcwzPIsoCL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vXOkqJRfEuoJFukilSbY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aChn9pepE.UxQ5TmE2LgQ"/>
</p:tagLst>
</file>

<file path=ppt/theme/theme1.xml><?xml version="1.0" encoding="utf-8"?>
<a:theme xmlns:a="http://schemas.openxmlformats.org/drawingml/2006/main" name="PowerPoint - European Data Portal Template v1.2">
  <a:themeElements>
    <a:clrScheme name="EC">
      <a:dk1>
        <a:srgbClr val="002060"/>
      </a:dk1>
      <a:lt1>
        <a:srgbClr val="FFFFFF"/>
      </a:lt1>
      <a:dk2>
        <a:srgbClr val="6A1A41"/>
      </a:dk2>
      <a:lt2>
        <a:srgbClr val="FFFFFF"/>
      </a:lt2>
      <a:accent1>
        <a:srgbClr val="002060"/>
      </a:accent1>
      <a:accent2>
        <a:srgbClr val="0070C0"/>
      </a:accent2>
      <a:accent3>
        <a:srgbClr val="00B0F0"/>
      </a:accent3>
      <a:accent4>
        <a:srgbClr val="FFFF00"/>
      </a:accent4>
      <a:accent5>
        <a:srgbClr val="FFC000"/>
      </a:accent5>
      <a:accent6>
        <a:srgbClr val="B10034"/>
      </a:accent6>
      <a:hlink>
        <a:srgbClr val="6A1A41"/>
      </a:hlink>
      <a:folHlink>
        <a:srgbClr val="BED600"/>
      </a:folHlink>
    </a:clrScheme>
    <a:fontScheme name="CC global_9_201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accent5"/>
          </a:solidFill>
        </a:ln>
        <a:effectLst/>
      </a:spPr>
      <a:bodyPr rtlCol="0" anchor="ctr"/>
      <a:lstStyle>
        <a:defPPr algn="ctr" fontAlgn="auto">
          <a:spcAft>
            <a:spcPts val="300"/>
          </a:spcAft>
          <a:defRPr sz="1400" dirty="0" err="1" smtClean="0">
            <a:solidFill>
              <a:schemeClr val="tx1">
                <a:lumMod val="85000"/>
                <a:lumOff val="15000"/>
              </a:schemeClr>
            </a:solidFill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rtlCol="0">
        <a:no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ts val="0"/>
          </a:spcBef>
          <a:spcAft>
            <a:spcPts val="400"/>
          </a:spcAft>
          <a:buClr>
            <a:schemeClr val="accent2"/>
          </a:buClr>
          <a:buSzPct val="100000"/>
          <a:buFontTx/>
          <a:buNone/>
          <a:tabLst/>
          <a:defRPr kumimoji="0" sz="1800" b="0" i="1" u="none" strike="noStrike" kern="1200" cap="none" spc="0" normalizeH="0" baseline="0" noProof="0" dirty="0" smtClean="0">
            <a:ln>
              <a:noFill/>
            </a:ln>
            <a:solidFill>
              <a:srgbClr val="FF6600"/>
            </a:solidFill>
            <a:effectLst/>
            <a:uLnTx/>
            <a:uFillTx/>
            <a:latin typeface="Calibri" pitchFamily="34" charset="0"/>
            <a:ea typeface="+mn-ea"/>
            <a:cs typeface="Calibri" pitchFamily="34" charset="0"/>
          </a:defRPr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263147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pen Data PowerPoint Template visuals 0.1.potx" id="{C066D12A-5B52-45A2-A8B8-3F72A78B8E44}" vid="{7BFF955B-DB18-4150-B2ED-824675F440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17975DD2F53F47B46EEE0D0062076F" ma:contentTypeVersion="" ma:contentTypeDescription="Create a new document." ma:contentTypeScope="" ma:versionID="67d30aa78d7ca6511e0160a6c5a4838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F96FE9-171F-414B-B8C3-64BEC403FD82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6272F68-D850-4B6B-9898-0E7C6D9A34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0190A9-FDE2-4DD5-BB18-BB459FBB3D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- European Data Portal Template v1.2</Template>
  <TotalTime>1377</TotalTime>
  <Words>320</Words>
  <Application>Microsoft Office PowerPoint</Application>
  <PresentationFormat>A4 Paper (210x297 mm)</PresentationFormat>
  <Paragraphs>43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 Unicode MS</vt:lpstr>
      <vt:lpstr>Arial</vt:lpstr>
      <vt:lpstr>Calibri</vt:lpstr>
      <vt:lpstr>Wingdings</vt:lpstr>
      <vt:lpstr>PowerPoint - European Data Portal Template v1.2</vt:lpstr>
      <vt:lpstr>think-cell Slide</vt:lpstr>
      <vt:lpstr>European Data Portal</vt:lpstr>
      <vt:lpstr>Perchè tutto queto interesse sugli Open Data ? </vt:lpstr>
      <vt:lpstr>I benefici nell’uso di Open Data sono vari e vanno dal miglioramento delle prestazioni delle Amministrazioni Pubbliche, alla crescita economica nel settore privato sino al supporto al social welfare</vt:lpstr>
      <vt:lpstr>www.europeandataportal.eu</vt:lpstr>
      <vt:lpstr>Le attività svolte</vt:lpstr>
      <vt:lpstr>PowerPoint Presentation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Data Portal</dc:title>
  <dc:creator>evsteenb</dc:creator>
  <cp:lastModifiedBy>CARRARA, Wendy</cp:lastModifiedBy>
  <cp:revision>73</cp:revision>
  <cp:lastPrinted>2011-09-22T15:06:49Z</cp:lastPrinted>
  <dcterms:created xsi:type="dcterms:W3CDTF">2015-10-22T07:06:44Z</dcterms:created>
  <dcterms:modified xsi:type="dcterms:W3CDTF">2016-09-05T07:32:08Z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0x010100C617975DD2F53F47B46EEE0D0062076F</vt:lpwstr>
  </property>
</Properties>
</file>